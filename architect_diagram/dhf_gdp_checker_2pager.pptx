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9601200" cy="502920"/>
          </a:xfrm>
          <a:prstGeom prst="rect">
            <a:avLst/>
          </a:prstGeom>
          <a:noFill/>
        </p:spPr>
        <p:txBody>
          <a:bodyPr wrap="square" anchor="t" lIns="73152" rIns="73152" tIns="27432" bIns="27432">
            <a:spAutoFit/>
          </a:bodyPr>
          <a:lstStyle/>
          <a:p>
            <a:pPr algn="l"/>
            <a:r>
              <a:rPr sz="2400" b="1">
                <a:solidFill>
                  <a:srgbClr val="0B2A4A"/>
                </a:solidFill>
                <a:latin typeface="Calibri"/>
              </a:rPr>
              <a:t>Document Review Bottleneck in Regulated Engineering</a:t>
            </a:r>
          </a:p>
        </p:txBody>
      </p:sp>
      <p:sp>
        <p:nvSpPr>
          <p:cNvPr id="5" name="TextBox 4"/>
          <p:cNvSpPr txBox="1"/>
          <p:nvPr/>
        </p:nvSpPr>
        <p:spPr>
          <a:xfrm>
            <a:off x="548640" y="713232"/>
            <a:ext cx="9601200" cy="292608"/>
          </a:xfrm>
          <a:prstGeom prst="rect">
            <a:avLst/>
          </a:prstGeom>
          <a:noFill/>
        </p:spPr>
        <p:txBody>
          <a:bodyPr wrap="square" anchor="t" lIns="73152" rIns="73152" tIns="27432" bIns="27432">
            <a:spAutoFit/>
          </a:bodyPr>
          <a:lstStyle/>
          <a:p>
            <a:pPr algn="l"/>
            <a:r>
              <a:rPr sz="1200" b="0">
                <a:solidFill>
                  <a:srgbClr val="5B6B80"/>
                </a:solidFill>
                <a:latin typeface="Calibri"/>
              </a:rPr>
              <a:t>The case for an AI-assisted quality review process for DHF / GDP documents.</a:t>
            </a:r>
          </a:p>
        </p:txBody>
      </p:sp>
      <p:sp>
        <p:nvSpPr>
          <p:cNvPr id="6" name="TextBox 5"/>
          <p:cNvSpPr txBox="1"/>
          <p:nvPr/>
        </p:nvSpPr>
        <p:spPr>
          <a:xfrm>
            <a:off x="10241280" y="292608"/>
            <a:ext cx="1554480" cy="274320"/>
          </a:xfrm>
          <a:prstGeom prst="rect">
            <a:avLst/>
          </a:prstGeom>
          <a:noFill/>
        </p:spPr>
        <p:txBody>
          <a:bodyPr wrap="square" anchor="t" lIns="73152" rIns="73152" tIns="27432" bIns="27432">
            <a:spAutoFit/>
          </a:bodyPr>
          <a:lstStyle/>
          <a:p>
            <a:pPr algn="r"/>
            <a:r>
              <a:rPr sz="1000" b="1">
                <a:solidFill>
                  <a:srgbClr val="006CB5"/>
                </a:solidFill>
                <a:latin typeface="Calibri"/>
              </a:rPr>
              <a:t>PROBLEM  |  1 of 2</a:t>
            </a:r>
          </a:p>
        </p:txBody>
      </p:sp>
      <p:sp>
        <p:nvSpPr>
          <p:cNvPr id="7" name="Rectangle 6"/>
          <p:cNvSpPr/>
          <p:nvPr/>
        </p:nvSpPr>
        <p:spPr>
          <a:xfrm>
            <a:off x="548640" y="1115568"/>
            <a:ext cx="11091672" cy="9525"/>
          </a:xfrm>
          <a:prstGeom prst="rect">
            <a:avLst/>
          </a:prstGeom>
          <a:solidFill>
            <a:srgbClr val="D0D7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25880"/>
            <a:ext cx="320040" cy="22000"/>
          </a:xfrm>
          <a:prstGeom prst="rect">
            <a:avLst/>
          </a:prstGeom>
          <a:solidFill>
            <a:srgbClr val="006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71600"/>
            <a:ext cx="5486400" cy="274320"/>
          </a:xfrm>
          <a:prstGeom prst="rect">
            <a:avLst/>
          </a:prstGeom>
          <a:noFill/>
        </p:spPr>
        <p:txBody>
          <a:bodyPr wrap="square" anchor="t" lIns="73152" rIns="73152" tIns="27432" bIns="27432">
            <a:spAutoFit/>
          </a:bodyPr>
          <a:lstStyle/>
          <a:p>
            <a:pPr algn="l"/>
            <a:r>
              <a:rPr sz="1000" b="1">
                <a:solidFill>
                  <a:srgbClr val="0B2A4A"/>
                </a:solidFill>
                <a:latin typeface="Calibri"/>
              </a:rPr>
              <a:t>CONTEXT</a:t>
            </a:r>
          </a:p>
        </p:txBody>
      </p:sp>
      <p:sp>
        <p:nvSpPr>
          <p:cNvPr id="10" name="TextBox 9"/>
          <p:cNvSpPr txBox="1"/>
          <p:nvPr/>
        </p:nvSpPr>
        <p:spPr>
          <a:xfrm>
            <a:off x="548640" y="1645920"/>
            <a:ext cx="11064240" cy="777240"/>
          </a:xfrm>
          <a:prstGeom prst="rect">
            <a:avLst/>
          </a:prstGeom>
          <a:noFill/>
        </p:spPr>
        <p:txBody>
          <a:bodyPr wrap="square" anchor="t" lIns="73152" rIns="73152" tIns="27432" bIns="27432">
            <a:spAutoFit/>
          </a:bodyPr>
          <a:lstStyle/>
          <a:p>
            <a:pPr algn="l"/>
            <a:r>
              <a:rPr sz="1200" b="0">
                <a:solidFill>
                  <a:srgbClr val="1F2A37"/>
                </a:solidFill>
                <a:latin typeface="Calibri"/>
              </a:rPr>
              <a:t>Design History File (DHF) and Good Distribution Practice (GDP) documents must satisfy a fixed set of quality criteria before release. Today this review is performed manually by senior engineers, page by page. The process is slow, inconsistent across reviewers, and offers no structured audit trail — a material compliance and throughput risk for the organisation.</a:t>
            </a:r>
          </a:p>
        </p:txBody>
      </p:sp>
      <p:sp>
        <p:nvSpPr>
          <p:cNvPr id="11" name="Rectangle 10"/>
          <p:cNvSpPr/>
          <p:nvPr/>
        </p:nvSpPr>
        <p:spPr>
          <a:xfrm>
            <a:off x="548640" y="2560320"/>
            <a:ext cx="320040" cy="22000"/>
          </a:xfrm>
          <a:prstGeom prst="rect">
            <a:avLst/>
          </a:prstGeom>
          <a:solidFill>
            <a:srgbClr val="006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606040"/>
            <a:ext cx="5486400" cy="274320"/>
          </a:xfrm>
          <a:prstGeom prst="rect">
            <a:avLst/>
          </a:prstGeom>
          <a:noFill/>
        </p:spPr>
        <p:txBody>
          <a:bodyPr wrap="square" anchor="t" lIns="73152" rIns="73152" tIns="27432" bIns="27432">
            <a:spAutoFit/>
          </a:bodyPr>
          <a:lstStyle/>
          <a:p>
            <a:pPr algn="l"/>
            <a:r>
              <a:rPr sz="1000" b="1">
                <a:solidFill>
                  <a:srgbClr val="0B2A4A"/>
                </a:solidFill>
                <a:latin typeface="Calibri"/>
              </a:rPr>
              <a:t>KEY INDICATORS</a:t>
            </a:r>
          </a:p>
        </p:txBody>
      </p:sp>
      <p:sp>
        <p:nvSpPr>
          <p:cNvPr id="13" name="Rectangle 12"/>
          <p:cNvSpPr/>
          <p:nvPr/>
        </p:nvSpPr>
        <p:spPr>
          <a:xfrm>
            <a:off x="548640" y="2880360"/>
            <a:ext cx="2697480" cy="914400"/>
          </a:xfrm>
          <a:prstGeom prst="rect">
            <a:avLst/>
          </a:prstGeom>
          <a:solidFill>
            <a:srgbClr val="F5F7FA"/>
          </a:solidFill>
          <a:ln w="9525">
            <a:solidFill>
              <a:srgbClr val="D0D7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2880360"/>
            <a:ext cx="54864" cy="914400"/>
          </a:xfrm>
          <a:prstGeom prst="rect">
            <a:avLst/>
          </a:prstGeom>
          <a:solidFill>
            <a:srgbClr val="006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2990088"/>
            <a:ext cx="2468880" cy="457200"/>
          </a:xfrm>
          <a:prstGeom prst="rect">
            <a:avLst/>
          </a:prstGeom>
          <a:noFill/>
        </p:spPr>
        <p:txBody>
          <a:bodyPr wrap="square" anchor="t" lIns="73152" rIns="73152" tIns="27432" bIns="27432">
            <a:spAutoFit/>
          </a:bodyPr>
          <a:lstStyle/>
          <a:p>
            <a:pPr algn="l"/>
            <a:r>
              <a:rPr sz="2200" b="1">
                <a:solidFill>
                  <a:srgbClr val="0B2A4A"/>
                </a:solidFill>
                <a:latin typeface="Calibri"/>
              </a:rPr>
              <a:t>100+</a:t>
            </a:r>
          </a:p>
        </p:txBody>
      </p:sp>
      <p:sp>
        <p:nvSpPr>
          <p:cNvPr id="16" name="TextBox 15"/>
          <p:cNvSpPr txBox="1"/>
          <p:nvPr/>
        </p:nvSpPr>
        <p:spPr>
          <a:xfrm>
            <a:off x="731520" y="3410712"/>
            <a:ext cx="2468880" cy="365760"/>
          </a:xfrm>
          <a:prstGeom prst="rect">
            <a:avLst/>
          </a:prstGeom>
          <a:noFill/>
        </p:spPr>
        <p:txBody>
          <a:bodyPr wrap="square" anchor="t" lIns="73152" rIns="73152" tIns="27432" bIns="27432">
            <a:spAutoFit/>
          </a:bodyPr>
          <a:lstStyle/>
          <a:p>
            <a:pPr algn="l"/>
            <a:r>
              <a:rPr sz="1000" b="0">
                <a:solidFill>
                  <a:srgbClr val="5B6B80"/>
                </a:solidFill>
                <a:latin typeface="Calibri"/>
              </a:rPr>
              <a:t>Pages per DHF document</a:t>
            </a:r>
          </a:p>
        </p:txBody>
      </p:sp>
      <p:sp>
        <p:nvSpPr>
          <p:cNvPr id="17" name="Rectangle 16"/>
          <p:cNvSpPr/>
          <p:nvPr/>
        </p:nvSpPr>
        <p:spPr>
          <a:xfrm>
            <a:off x="3364992" y="2880360"/>
            <a:ext cx="2697480" cy="914400"/>
          </a:xfrm>
          <a:prstGeom prst="rect">
            <a:avLst/>
          </a:prstGeom>
          <a:solidFill>
            <a:srgbClr val="F5F7FA"/>
          </a:solidFill>
          <a:ln w="9525">
            <a:solidFill>
              <a:srgbClr val="D0D7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64992" y="2880360"/>
            <a:ext cx="54864" cy="914400"/>
          </a:xfrm>
          <a:prstGeom prst="rect">
            <a:avLst/>
          </a:prstGeom>
          <a:solidFill>
            <a:srgbClr val="006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47872" y="2990088"/>
            <a:ext cx="2468880" cy="457200"/>
          </a:xfrm>
          <a:prstGeom prst="rect">
            <a:avLst/>
          </a:prstGeom>
          <a:noFill/>
        </p:spPr>
        <p:txBody>
          <a:bodyPr wrap="square" anchor="t" lIns="73152" rIns="73152" tIns="27432" bIns="27432">
            <a:spAutoFit/>
          </a:bodyPr>
          <a:lstStyle/>
          <a:p>
            <a:pPr algn="l"/>
            <a:r>
              <a:rPr sz="2200" b="1">
                <a:solidFill>
                  <a:srgbClr val="0B2A4A"/>
                </a:solidFill>
                <a:latin typeface="Calibri"/>
              </a:rPr>
              <a:t>21</a:t>
            </a:r>
          </a:p>
        </p:txBody>
      </p:sp>
      <p:sp>
        <p:nvSpPr>
          <p:cNvPr id="20" name="TextBox 19"/>
          <p:cNvSpPr txBox="1"/>
          <p:nvPr/>
        </p:nvSpPr>
        <p:spPr>
          <a:xfrm>
            <a:off x="3547872" y="3410712"/>
            <a:ext cx="2468880" cy="365760"/>
          </a:xfrm>
          <a:prstGeom prst="rect">
            <a:avLst/>
          </a:prstGeom>
          <a:noFill/>
        </p:spPr>
        <p:txBody>
          <a:bodyPr wrap="square" anchor="t" lIns="73152" rIns="73152" tIns="27432" bIns="27432">
            <a:spAutoFit/>
          </a:bodyPr>
          <a:lstStyle/>
          <a:p>
            <a:pPr algn="l"/>
            <a:r>
              <a:rPr sz="1000" b="0">
                <a:solidFill>
                  <a:srgbClr val="5B6B80"/>
                </a:solidFill>
                <a:latin typeface="Calibri"/>
              </a:rPr>
              <a:t>Mandatory compliance checks</a:t>
            </a:r>
          </a:p>
        </p:txBody>
      </p:sp>
      <p:sp>
        <p:nvSpPr>
          <p:cNvPr id="21" name="Rectangle 20"/>
          <p:cNvSpPr/>
          <p:nvPr/>
        </p:nvSpPr>
        <p:spPr>
          <a:xfrm>
            <a:off x="6181344" y="2880360"/>
            <a:ext cx="2697480" cy="914400"/>
          </a:xfrm>
          <a:prstGeom prst="rect">
            <a:avLst/>
          </a:prstGeom>
          <a:solidFill>
            <a:srgbClr val="F5F7FA"/>
          </a:solidFill>
          <a:ln w="9525">
            <a:solidFill>
              <a:srgbClr val="D0D7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2880360"/>
            <a:ext cx="54864" cy="914400"/>
          </a:xfrm>
          <a:prstGeom prst="rect">
            <a:avLst/>
          </a:prstGeom>
          <a:solidFill>
            <a:srgbClr val="006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64224" y="2990088"/>
            <a:ext cx="2468880" cy="457200"/>
          </a:xfrm>
          <a:prstGeom prst="rect">
            <a:avLst/>
          </a:prstGeom>
          <a:noFill/>
        </p:spPr>
        <p:txBody>
          <a:bodyPr wrap="square" anchor="t" lIns="73152" rIns="73152" tIns="27432" bIns="27432">
            <a:spAutoFit/>
          </a:bodyPr>
          <a:lstStyle/>
          <a:p>
            <a:pPr algn="l"/>
            <a:r>
              <a:rPr sz="2200" b="1">
                <a:solidFill>
                  <a:srgbClr val="0B2A4A"/>
                </a:solidFill>
                <a:latin typeface="Calibri"/>
              </a:rPr>
              <a:t>4 – 8 h</a:t>
            </a:r>
          </a:p>
        </p:txBody>
      </p:sp>
      <p:sp>
        <p:nvSpPr>
          <p:cNvPr id="24" name="TextBox 23"/>
          <p:cNvSpPr txBox="1"/>
          <p:nvPr/>
        </p:nvSpPr>
        <p:spPr>
          <a:xfrm>
            <a:off x="6364224" y="3410712"/>
            <a:ext cx="2468880" cy="365760"/>
          </a:xfrm>
          <a:prstGeom prst="rect">
            <a:avLst/>
          </a:prstGeom>
          <a:noFill/>
        </p:spPr>
        <p:txBody>
          <a:bodyPr wrap="square" anchor="t" lIns="73152" rIns="73152" tIns="27432" bIns="27432">
            <a:spAutoFit/>
          </a:bodyPr>
          <a:lstStyle/>
          <a:p>
            <a:pPr algn="l"/>
            <a:r>
              <a:rPr sz="1000" b="0">
                <a:solidFill>
                  <a:srgbClr val="5B6B80"/>
                </a:solidFill>
                <a:latin typeface="Calibri"/>
              </a:rPr>
              <a:t>Expert review time per file</a:t>
            </a:r>
          </a:p>
        </p:txBody>
      </p:sp>
      <p:sp>
        <p:nvSpPr>
          <p:cNvPr id="25" name="Rectangle 24"/>
          <p:cNvSpPr/>
          <p:nvPr/>
        </p:nvSpPr>
        <p:spPr>
          <a:xfrm>
            <a:off x="8997696" y="2880360"/>
            <a:ext cx="2697480" cy="914400"/>
          </a:xfrm>
          <a:prstGeom prst="rect">
            <a:avLst/>
          </a:prstGeom>
          <a:solidFill>
            <a:srgbClr val="F5F7FA"/>
          </a:solidFill>
          <a:ln w="9525">
            <a:solidFill>
              <a:srgbClr val="D0D7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7696" y="2880360"/>
            <a:ext cx="54864" cy="914400"/>
          </a:xfrm>
          <a:prstGeom prst="rect">
            <a:avLst/>
          </a:prstGeom>
          <a:solidFill>
            <a:srgbClr val="006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180576" y="2990088"/>
            <a:ext cx="2468880" cy="457200"/>
          </a:xfrm>
          <a:prstGeom prst="rect">
            <a:avLst/>
          </a:prstGeom>
          <a:noFill/>
        </p:spPr>
        <p:txBody>
          <a:bodyPr wrap="square" anchor="t" lIns="73152" rIns="73152" tIns="27432" bIns="27432">
            <a:spAutoFit/>
          </a:bodyPr>
          <a:lstStyle/>
          <a:p>
            <a:pPr algn="l"/>
            <a:r>
              <a:rPr sz="2200" b="1">
                <a:solidFill>
                  <a:srgbClr val="0B2A4A"/>
                </a:solidFill>
                <a:latin typeface="Calibri"/>
              </a:rPr>
              <a:t>0 %</a:t>
            </a:r>
          </a:p>
        </p:txBody>
      </p:sp>
      <p:sp>
        <p:nvSpPr>
          <p:cNvPr id="28" name="TextBox 27"/>
          <p:cNvSpPr txBox="1"/>
          <p:nvPr/>
        </p:nvSpPr>
        <p:spPr>
          <a:xfrm>
            <a:off x="9180576" y="3410712"/>
            <a:ext cx="2468880" cy="365760"/>
          </a:xfrm>
          <a:prstGeom prst="rect">
            <a:avLst/>
          </a:prstGeom>
          <a:noFill/>
        </p:spPr>
        <p:txBody>
          <a:bodyPr wrap="square" anchor="t" lIns="73152" rIns="73152" tIns="27432" bIns="27432">
            <a:spAutoFit/>
          </a:bodyPr>
          <a:lstStyle/>
          <a:p>
            <a:pPr algn="l"/>
            <a:r>
              <a:rPr sz="1000" b="0">
                <a:solidFill>
                  <a:srgbClr val="5B6B80"/>
                </a:solidFill>
                <a:latin typeface="Calibri"/>
              </a:rPr>
              <a:t>Tolerated AI-authored content without sign-off</a:t>
            </a:r>
          </a:p>
        </p:txBody>
      </p:sp>
      <p:sp>
        <p:nvSpPr>
          <p:cNvPr id="29" name="Rectangle 28"/>
          <p:cNvSpPr/>
          <p:nvPr/>
        </p:nvSpPr>
        <p:spPr>
          <a:xfrm>
            <a:off x="548640" y="4069080"/>
            <a:ext cx="5486400" cy="2331720"/>
          </a:xfrm>
          <a:prstGeom prst="rect">
            <a:avLst/>
          </a:prstGeom>
          <a:solidFill>
            <a:srgbClr val="F5F7FA"/>
          </a:solidFill>
          <a:ln w="9525">
            <a:solidFill>
              <a:srgbClr val="D0D7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069080"/>
            <a:ext cx="54864" cy="233172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7240" y="4206240"/>
            <a:ext cx="5120640" cy="274320"/>
          </a:xfrm>
          <a:prstGeom prst="rect">
            <a:avLst/>
          </a:prstGeom>
          <a:noFill/>
        </p:spPr>
        <p:txBody>
          <a:bodyPr wrap="square" anchor="t" lIns="73152" rIns="73152" tIns="27432" bIns="27432">
            <a:spAutoFit/>
          </a:bodyPr>
          <a:lstStyle/>
          <a:p>
            <a:pPr algn="l"/>
            <a:r>
              <a:rPr sz="1000" b="1">
                <a:solidFill>
                  <a:srgbClr val="006CB5"/>
                </a:solidFill>
                <a:latin typeface="Calibri"/>
              </a:rPr>
              <a:t>CURRENT STATE</a:t>
            </a:r>
          </a:p>
        </p:txBody>
      </p:sp>
      <p:sp>
        <p:nvSpPr>
          <p:cNvPr id="32" name="TextBox 31"/>
          <p:cNvSpPr txBox="1"/>
          <p:nvPr/>
        </p:nvSpPr>
        <p:spPr>
          <a:xfrm>
            <a:off x="777240" y="4453128"/>
            <a:ext cx="5120640" cy="365760"/>
          </a:xfrm>
          <a:prstGeom prst="rect">
            <a:avLst/>
          </a:prstGeom>
          <a:noFill/>
        </p:spPr>
        <p:txBody>
          <a:bodyPr wrap="square" anchor="t" lIns="73152" rIns="73152" tIns="27432" bIns="27432">
            <a:spAutoFit/>
          </a:bodyPr>
          <a:lstStyle/>
          <a:p>
            <a:pPr algn="l"/>
            <a:r>
              <a:rPr sz="1500" b="1">
                <a:solidFill>
                  <a:srgbClr val="0B2A4A"/>
                </a:solidFill>
                <a:latin typeface="Calibri"/>
              </a:rPr>
              <a:t>Manual review is slow, inconsistent, and opaque.</a:t>
            </a:r>
          </a:p>
        </p:txBody>
      </p:sp>
      <p:sp>
        <p:nvSpPr>
          <p:cNvPr id="33" name="TextBox 32"/>
          <p:cNvSpPr txBox="1"/>
          <p:nvPr/>
        </p:nvSpPr>
        <p:spPr>
          <a:xfrm>
            <a:off x="777240" y="4937760"/>
            <a:ext cx="5120640" cy="256032"/>
          </a:xfrm>
          <a:prstGeom prst="rect">
            <a:avLst/>
          </a:prstGeom>
          <a:noFill/>
        </p:spPr>
        <p:txBody>
          <a:bodyPr wrap="square" anchor="t" lIns="73152" rIns="73152" tIns="27432" bIns="27432">
            <a:spAutoFit/>
          </a:bodyPr>
          <a:lstStyle/>
          <a:p>
            <a:pPr algn="l"/>
            <a:r>
              <a:rPr sz="1100" b="1">
                <a:solidFill>
                  <a:srgbClr val="0B2A4A"/>
                </a:solidFill>
                <a:latin typeface="Calibri"/>
              </a:rPr>
              <a:t>•  Repetitive effort</a:t>
            </a:r>
          </a:p>
        </p:txBody>
      </p:sp>
      <p:sp>
        <p:nvSpPr>
          <p:cNvPr id="34" name="TextBox 33"/>
          <p:cNvSpPr txBox="1"/>
          <p:nvPr/>
        </p:nvSpPr>
        <p:spPr>
          <a:xfrm>
            <a:off x="960120" y="5166360"/>
            <a:ext cx="4937760" cy="292608"/>
          </a:xfrm>
          <a:prstGeom prst="rect">
            <a:avLst/>
          </a:prstGeom>
          <a:noFill/>
        </p:spPr>
        <p:txBody>
          <a:bodyPr wrap="square" anchor="t" lIns="73152" rIns="73152" tIns="27432" bIns="27432">
            <a:spAutoFit/>
          </a:bodyPr>
          <a:lstStyle/>
          <a:p>
            <a:pPr algn="l"/>
            <a:r>
              <a:rPr sz="1000" b="0">
                <a:solidFill>
                  <a:srgbClr val="1F2A37"/>
                </a:solidFill>
                <a:latin typeface="Calibri"/>
              </a:rPr>
              <a:t>Reviewers re-apply the same 21 checks on every document.</a:t>
            </a:r>
          </a:p>
        </p:txBody>
      </p:sp>
      <p:sp>
        <p:nvSpPr>
          <p:cNvPr id="35" name="TextBox 34"/>
          <p:cNvSpPr txBox="1"/>
          <p:nvPr/>
        </p:nvSpPr>
        <p:spPr>
          <a:xfrm>
            <a:off x="777240" y="5394960"/>
            <a:ext cx="5120640" cy="256032"/>
          </a:xfrm>
          <a:prstGeom prst="rect">
            <a:avLst/>
          </a:prstGeom>
          <a:noFill/>
        </p:spPr>
        <p:txBody>
          <a:bodyPr wrap="square" anchor="t" lIns="73152" rIns="73152" tIns="27432" bIns="27432">
            <a:spAutoFit/>
          </a:bodyPr>
          <a:lstStyle/>
          <a:p>
            <a:pPr algn="l"/>
            <a:r>
              <a:rPr sz="1100" b="1">
                <a:solidFill>
                  <a:srgbClr val="0B2A4A"/>
                </a:solidFill>
                <a:latin typeface="Calibri"/>
              </a:rPr>
              <a:t>•  Inconsistent verdicts</a:t>
            </a:r>
          </a:p>
        </p:txBody>
      </p:sp>
      <p:sp>
        <p:nvSpPr>
          <p:cNvPr id="36" name="TextBox 35"/>
          <p:cNvSpPr txBox="1"/>
          <p:nvPr/>
        </p:nvSpPr>
        <p:spPr>
          <a:xfrm>
            <a:off x="960120" y="5623560"/>
            <a:ext cx="4937760" cy="292608"/>
          </a:xfrm>
          <a:prstGeom prst="rect">
            <a:avLst/>
          </a:prstGeom>
          <a:noFill/>
        </p:spPr>
        <p:txBody>
          <a:bodyPr wrap="square" anchor="t" lIns="73152" rIns="73152" tIns="27432" bIns="27432">
            <a:spAutoFit/>
          </a:bodyPr>
          <a:lstStyle/>
          <a:p>
            <a:pPr algn="l"/>
            <a:r>
              <a:rPr sz="1000" b="0">
                <a:solidFill>
                  <a:srgbClr val="1F2A37"/>
                </a:solidFill>
                <a:latin typeface="Calibri"/>
              </a:rPr>
              <a:t>Different reviewers produce different findings on identical content.</a:t>
            </a:r>
          </a:p>
        </p:txBody>
      </p:sp>
      <p:sp>
        <p:nvSpPr>
          <p:cNvPr id="37" name="TextBox 36"/>
          <p:cNvSpPr txBox="1"/>
          <p:nvPr/>
        </p:nvSpPr>
        <p:spPr>
          <a:xfrm>
            <a:off x="777240" y="5852160"/>
            <a:ext cx="5120640" cy="256032"/>
          </a:xfrm>
          <a:prstGeom prst="rect">
            <a:avLst/>
          </a:prstGeom>
          <a:noFill/>
        </p:spPr>
        <p:txBody>
          <a:bodyPr wrap="square" anchor="t" lIns="73152" rIns="73152" tIns="27432" bIns="27432">
            <a:spAutoFit/>
          </a:bodyPr>
          <a:lstStyle/>
          <a:p>
            <a:pPr algn="l"/>
            <a:r>
              <a:rPr sz="1100" b="1">
                <a:solidFill>
                  <a:srgbClr val="0B2A4A"/>
                </a:solidFill>
                <a:latin typeface="Calibri"/>
              </a:rPr>
              <a:t>•  Limited audit trail</a:t>
            </a:r>
          </a:p>
        </p:txBody>
      </p:sp>
      <p:sp>
        <p:nvSpPr>
          <p:cNvPr id="38" name="TextBox 37"/>
          <p:cNvSpPr txBox="1"/>
          <p:nvPr/>
        </p:nvSpPr>
        <p:spPr>
          <a:xfrm>
            <a:off x="960120" y="6080760"/>
            <a:ext cx="4937760" cy="292608"/>
          </a:xfrm>
          <a:prstGeom prst="rect">
            <a:avLst/>
          </a:prstGeom>
          <a:noFill/>
        </p:spPr>
        <p:txBody>
          <a:bodyPr wrap="square" anchor="t" lIns="73152" rIns="73152" tIns="27432" bIns="27432">
            <a:spAutoFit/>
          </a:bodyPr>
          <a:lstStyle/>
          <a:p>
            <a:pPr algn="l"/>
            <a:r>
              <a:rPr sz="1000" b="0">
                <a:solidFill>
                  <a:srgbClr val="1F2A37"/>
                </a:solidFill>
                <a:latin typeface="Calibri"/>
              </a:rPr>
              <a:t>Decisions live in email and tracked changes, not in a controlled record.</a:t>
            </a:r>
          </a:p>
        </p:txBody>
      </p:sp>
      <p:sp>
        <p:nvSpPr>
          <p:cNvPr id="39" name="Rectangle 38"/>
          <p:cNvSpPr/>
          <p:nvPr/>
        </p:nvSpPr>
        <p:spPr>
          <a:xfrm>
            <a:off x="6153912" y="4069080"/>
            <a:ext cx="5486400" cy="2331720"/>
          </a:xfrm>
          <a:prstGeom prst="rect">
            <a:avLst/>
          </a:prstGeom>
          <a:solidFill>
            <a:srgbClr val="F5F7FA"/>
          </a:solidFill>
          <a:ln w="9525">
            <a:solidFill>
              <a:srgbClr val="D0D7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153912" y="4069080"/>
            <a:ext cx="54864" cy="233172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382512" y="4206240"/>
            <a:ext cx="5120640" cy="274320"/>
          </a:xfrm>
          <a:prstGeom prst="rect">
            <a:avLst/>
          </a:prstGeom>
          <a:noFill/>
        </p:spPr>
        <p:txBody>
          <a:bodyPr wrap="square" anchor="t" lIns="73152" rIns="73152" tIns="27432" bIns="27432">
            <a:spAutoFit/>
          </a:bodyPr>
          <a:lstStyle/>
          <a:p>
            <a:pPr algn="l"/>
            <a:r>
              <a:rPr sz="1000" b="1">
                <a:solidFill>
                  <a:srgbClr val="006CB5"/>
                </a:solidFill>
                <a:latin typeface="Calibri"/>
              </a:rPr>
              <a:t>REQUIRED CAPABILITY</a:t>
            </a:r>
          </a:p>
        </p:txBody>
      </p:sp>
      <p:sp>
        <p:nvSpPr>
          <p:cNvPr id="42" name="TextBox 41"/>
          <p:cNvSpPr txBox="1"/>
          <p:nvPr/>
        </p:nvSpPr>
        <p:spPr>
          <a:xfrm>
            <a:off x="6382512" y="4453128"/>
            <a:ext cx="5120640" cy="365760"/>
          </a:xfrm>
          <a:prstGeom prst="rect">
            <a:avLst/>
          </a:prstGeom>
          <a:noFill/>
        </p:spPr>
        <p:txBody>
          <a:bodyPr wrap="square" anchor="t" lIns="73152" rIns="73152" tIns="27432" bIns="27432">
            <a:spAutoFit/>
          </a:bodyPr>
          <a:lstStyle/>
          <a:p>
            <a:pPr algn="l"/>
            <a:r>
              <a:rPr sz="1500" b="1">
                <a:solidFill>
                  <a:srgbClr val="0B2A4A"/>
                </a:solidFill>
                <a:latin typeface="Calibri"/>
              </a:rPr>
              <a:t>AI-assisted review with mandatory human sign-off.</a:t>
            </a:r>
          </a:p>
        </p:txBody>
      </p:sp>
      <p:sp>
        <p:nvSpPr>
          <p:cNvPr id="43" name="TextBox 42"/>
          <p:cNvSpPr txBox="1"/>
          <p:nvPr/>
        </p:nvSpPr>
        <p:spPr>
          <a:xfrm>
            <a:off x="6382512" y="4937760"/>
            <a:ext cx="5120640" cy="256032"/>
          </a:xfrm>
          <a:prstGeom prst="rect">
            <a:avLst/>
          </a:prstGeom>
          <a:noFill/>
        </p:spPr>
        <p:txBody>
          <a:bodyPr wrap="square" anchor="t" lIns="73152" rIns="73152" tIns="27432" bIns="27432">
            <a:spAutoFit/>
          </a:bodyPr>
          <a:lstStyle/>
          <a:p>
            <a:pPr algn="l"/>
            <a:r>
              <a:rPr sz="1100" b="1">
                <a:solidFill>
                  <a:srgbClr val="0B2A4A"/>
                </a:solidFill>
                <a:latin typeface="Calibri"/>
              </a:rPr>
              <a:t>•  Automated detection</a:t>
            </a:r>
          </a:p>
        </p:txBody>
      </p:sp>
      <p:sp>
        <p:nvSpPr>
          <p:cNvPr id="44" name="TextBox 43"/>
          <p:cNvSpPr txBox="1"/>
          <p:nvPr/>
        </p:nvSpPr>
        <p:spPr>
          <a:xfrm>
            <a:off x="6565392" y="5166360"/>
            <a:ext cx="4937760" cy="292608"/>
          </a:xfrm>
          <a:prstGeom prst="rect">
            <a:avLst/>
          </a:prstGeom>
          <a:noFill/>
        </p:spPr>
        <p:txBody>
          <a:bodyPr wrap="square" anchor="t" lIns="73152" rIns="73152" tIns="27432" bIns="27432">
            <a:spAutoFit/>
          </a:bodyPr>
          <a:lstStyle/>
          <a:p>
            <a:pPr algn="l"/>
            <a:r>
              <a:rPr sz="1000" b="0">
                <a:solidFill>
                  <a:srgbClr val="1F2A37"/>
                </a:solidFill>
                <a:latin typeface="Calibri"/>
              </a:rPr>
              <a:t>Deterministic rules and LLM checks identify findings in seconds.</a:t>
            </a:r>
          </a:p>
        </p:txBody>
      </p:sp>
      <p:sp>
        <p:nvSpPr>
          <p:cNvPr id="45" name="TextBox 44"/>
          <p:cNvSpPr txBox="1"/>
          <p:nvPr/>
        </p:nvSpPr>
        <p:spPr>
          <a:xfrm>
            <a:off x="6382512" y="5394960"/>
            <a:ext cx="5120640" cy="256032"/>
          </a:xfrm>
          <a:prstGeom prst="rect">
            <a:avLst/>
          </a:prstGeom>
          <a:noFill/>
        </p:spPr>
        <p:txBody>
          <a:bodyPr wrap="square" anchor="t" lIns="73152" rIns="73152" tIns="27432" bIns="27432">
            <a:spAutoFit/>
          </a:bodyPr>
          <a:lstStyle/>
          <a:p>
            <a:pPr algn="l"/>
            <a:r>
              <a:rPr sz="1100" b="1">
                <a:solidFill>
                  <a:srgbClr val="0B2A4A"/>
                </a:solidFill>
                <a:latin typeface="Calibri"/>
              </a:rPr>
              <a:t>•  Human-in-the-loop approval</a:t>
            </a:r>
          </a:p>
        </p:txBody>
      </p:sp>
      <p:sp>
        <p:nvSpPr>
          <p:cNvPr id="46" name="TextBox 45"/>
          <p:cNvSpPr txBox="1"/>
          <p:nvPr/>
        </p:nvSpPr>
        <p:spPr>
          <a:xfrm>
            <a:off x="6565392" y="5623560"/>
            <a:ext cx="4937760" cy="292608"/>
          </a:xfrm>
          <a:prstGeom prst="rect">
            <a:avLst/>
          </a:prstGeom>
          <a:noFill/>
        </p:spPr>
        <p:txBody>
          <a:bodyPr wrap="square" anchor="t" lIns="73152" rIns="73152" tIns="27432" bIns="27432">
            <a:spAutoFit/>
          </a:bodyPr>
          <a:lstStyle/>
          <a:p>
            <a:pPr algn="l"/>
            <a:r>
              <a:rPr sz="1000" b="0">
                <a:solidFill>
                  <a:srgbClr val="1F2A37"/>
                </a:solidFill>
                <a:latin typeface="Calibri"/>
              </a:rPr>
              <a:t>Every AI-authored comment is reviewed before it enters the document.</a:t>
            </a:r>
          </a:p>
        </p:txBody>
      </p:sp>
      <p:sp>
        <p:nvSpPr>
          <p:cNvPr id="47" name="TextBox 46"/>
          <p:cNvSpPr txBox="1"/>
          <p:nvPr/>
        </p:nvSpPr>
        <p:spPr>
          <a:xfrm>
            <a:off x="6382512" y="5852160"/>
            <a:ext cx="5120640" cy="256032"/>
          </a:xfrm>
          <a:prstGeom prst="rect">
            <a:avLst/>
          </a:prstGeom>
          <a:noFill/>
        </p:spPr>
        <p:txBody>
          <a:bodyPr wrap="square" anchor="t" lIns="73152" rIns="73152" tIns="27432" bIns="27432">
            <a:spAutoFit/>
          </a:bodyPr>
          <a:lstStyle/>
          <a:p>
            <a:pPr algn="l"/>
            <a:r>
              <a:rPr sz="1100" b="1">
                <a:solidFill>
                  <a:srgbClr val="0B2A4A"/>
                </a:solidFill>
                <a:latin typeface="Calibri"/>
              </a:rPr>
              <a:t>•  Traceable, resumable workflow</a:t>
            </a:r>
          </a:p>
        </p:txBody>
      </p:sp>
      <p:sp>
        <p:nvSpPr>
          <p:cNvPr id="48" name="TextBox 47"/>
          <p:cNvSpPr txBox="1"/>
          <p:nvPr/>
        </p:nvSpPr>
        <p:spPr>
          <a:xfrm>
            <a:off x="6565392" y="6080760"/>
            <a:ext cx="4937760" cy="292608"/>
          </a:xfrm>
          <a:prstGeom prst="rect">
            <a:avLst/>
          </a:prstGeom>
          <a:noFill/>
        </p:spPr>
        <p:txBody>
          <a:bodyPr wrap="square" anchor="t" lIns="73152" rIns="73152" tIns="27432" bIns="27432">
            <a:spAutoFit/>
          </a:bodyPr>
          <a:lstStyle/>
          <a:p>
            <a:pPr algn="l"/>
            <a:r>
              <a:rPr sz="1000" b="0">
                <a:solidFill>
                  <a:srgbClr val="1F2A37"/>
                </a:solidFill>
                <a:latin typeface="Calibri"/>
              </a:rPr>
              <a:t>Each session is checkpointed and produces a structured report.</a:t>
            </a:r>
          </a:p>
        </p:txBody>
      </p:sp>
      <p:sp>
        <p:nvSpPr>
          <p:cNvPr id="49" name="Rectangle 48"/>
          <p:cNvSpPr/>
          <p:nvPr/>
        </p:nvSpPr>
        <p:spPr>
          <a:xfrm>
            <a:off x="548640" y="6510528"/>
            <a:ext cx="11091672" cy="9525"/>
          </a:xfrm>
          <a:prstGeom prst="rect">
            <a:avLst/>
          </a:prstGeom>
          <a:solidFill>
            <a:srgbClr val="D0D7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48640" y="6565392"/>
            <a:ext cx="7315200" cy="201168"/>
          </a:xfrm>
          <a:prstGeom prst="rect">
            <a:avLst/>
          </a:prstGeom>
          <a:noFill/>
        </p:spPr>
        <p:txBody>
          <a:bodyPr wrap="square" anchor="t" lIns="73152" rIns="73152" tIns="27432" bIns="27432">
            <a:spAutoFit/>
          </a:bodyPr>
          <a:lstStyle/>
          <a:p>
            <a:pPr algn="l"/>
            <a:r>
              <a:rPr sz="900" b="0">
                <a:solidFill>
                  <a:srgbClr val="5B6B80"/>
                </a:solidFill>
                <a:latin typeface="Calibri"/>
              </a:rPr>
              <a:t>DHF / GDP Checker  |  Agentic Document Quality Assurance</a:t>
            </a:r>
          </a:p>
        </p:txBody>
      </p:sp>
      <p:sp>
        <p:nvSpPr>
          <p:cNvPr id="51" name="TextBox 50"/>
          <p:cNvSpPr txBox="1"/>
          <p:nvPr/>
        </p:nvSpPr>
        <p:spPr>
          <a:xfrm>
            <a:off x="10058400" y="6565392"/>
            <a:ext cx="1554480" cy="201168"/>
          </a:xfrm>
          <a:prstGeom prst="rect">
            <a:avLst/>
          </a:prstGeom>
          <a:noFill/>
        </p:spPr>
        <p:txBody>
          <a:bodyPr wrap="square" anchor="t" lIns="73152" rIns="73152" tIns="27432" bIns="27432">
            <a:spAutoFit/>
          </a:bodyPr>
          <a:lstStyle/>
          <a:p>
            <a:pPr algn="r"/>
            <a:r>
              <a:rPr sz="900" b="0">
                <a:solidFill>
                  <a:srgbClr val="5B6B80"/>
                </a:solidFill>
                <a:latin typeface="Calibri"/>
              </a:rPr>
              <a:t>Page 1 of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28600"/>
            <a:ext cx="9601200" cy="502920"/>
          </a:xfrm>
          <a:prstGeom prst="rect">
            <a:avLst/>
          </a:prstGeom>
          <a:noFill/>
        </p:spPr>
        <p:txBody>
          <a:bodyPr wrap="square" anchor="t" lIns="73152" rIns="73152" tIns="27432" bIns="27432">
            <a:spAutoFit/>
          </a:bodyPr>
          <a:lstStyle/>
          <a:p>
            <a:pPr algn="l"/>
            <a:r>
              <a:rPr sz="2400" b="1">
                <a:solidFill>
                  <a:srgbClr val="0B2A4A"/>
                </a:solidFill>
                <a:latin typeface="Calibri"/>
              </a:rPr>
              <a:t>Solution Architecture and Business Benefits</a:t>
            </a:r>
          </a:p>
        </p:txBody>
      </p:sp>
      <p:sp>
        <p:nvSpPr>
          <p:cNvPr id="5" name="TextBox 4"/>
          <p:cNvSpPr txBox="1"/>
          <p:nvPr/>
        </p:nvSpPr>
        <p:spPr>
          <a:xfrm>
            <a:off x="548640" y="713232"/>
            <a:ext cx="9601200" cy="292608"/>
          </a:xfrm>
          <a:prstGeom prst="rect">
            <a:avLst/>
          </a:prstGeom>
          <a:noFill/>
        </p:spPr>
        <p:txBody>
          <a:bodyPr wrap="square" anchor="t" lIns="73152" rIns="73152" tIns="27432" bIns="27432">
            <a:spAutoFit/>
          </a:bodyPr>
          <a:lstStyle/>
          <a:p>
            <a:pPr algn="l"/>
            <a:r>
              <a:rPr sz="1200" b="0">
                <a:solidFill>
                  <a:srgbClr val="5B6B80"/>
                </a:solidFill>
                <a:latin typeface="Calibri"/>
              </a:rPr>
              <a:t>An agentic, human-in-the-loop pipeline built on LangGraph and Azure OpenAI.</a:t>
            </a:r>
          </a:p>
        </p:txBody>
      </p:sp>
      <p:sp>
        <p:nvSpPr>
          <p:cNvPr id="6" name="TextBox 5"/>
          <p:cNvSpPr txBox="1"/>
          <p:nvPr/>
        </p:nvSpPr>
        <p:spPr>
          <a:xfrm>
            <a:off x="10241280" y="292608"/>
            <a:ext cx="1554480" cy="274320"/>
          </a:xfrm>
          <a:prstGeom prst="rect">
            <a:avLst/>
          </a:prstGeom>
          <a:noFill/>
        </p:spPr>
        <p:txBody>
          <a:bodyPr wrap="square" anchor="t" lIns="73152" rIns="73152" tIns="27432" bIns="27432">
            <a:spAutoFit/>
          </a:bodyPr>
          <a:lstStyle/>
          <a:p>
            <a:pPr algn="r"/>
            <a:r>
              <a:rPr sz="1000" b="1">
                <a:solidFill>
                  <a:srgbClr val="006CB5"/>
                </a:solidFill>
                <a:latin typeface="Calibri"/>
              </a:rPr>
              <a:t>SOLUTION  |  2 of 2</a:t>
            </a:r>
          </a:p>
        </p:txBody>
      </p:sp>
      <p:sp>
        <p:nvSpPr>
          <p:cNvPr id="7" name="Rectangle 6"/>
          <p:cNvSpPr/>
          <p:nvPr/>
        </p:nvSpPr>
        <p:spPr>
          <a:xfrm>
            <a:off x="548640" y="1115568"/>
            <a:ext cx="11091672" cy="9525"/>
          </a:xfrm>
          <a:prstGeom prst="rect">
            <a:avLst/>
          </a:prstGeom>
          <a:solidFill>
            <a:srgbClr val="D0D7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25880"/>
            <a:ext cx="320040" cy="22000"/>
          </a:xfrm>
          <a:prstGeom prst="rect">
            <a:avLst/>
          </a:prstGeom>
          <a:solidFill>
            <a:srgbClr val="006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71600"/>
            <a:ext cx="5486400" cy="274320"/>
          </a:xfrm>
          <a:prstGeom prst="rect">
            <a:avLst/>
          </a:prstGeom>
          <a:noFill/>
        </p:spPr>
        <p:txBody>
          <a:bodyPr wrap="square" anchor="t" lIns="73152" rIns="73152" tIns="27432" bIns="27432">
            <a:spAutoFit/>
          </a:bodyPr>
          <a:lstStyle/>
          <a:p>
            <a:pPr algn="l"/>
            <a:r>
              <a:rPr sz="1000" b="1">
                <a:solidFill>
                  <a:srgbClr val="0B2A4A"/>
                </a:solidFill>
                <a:latin typeface="Calibri"/>
              </a:rPr>
              <a:t>END-TO-END PROCESS FLOW</a:t>
            </a:r>
          </a:p>
        </p:txBody>
      </p:sp>
      <p:sp>
        <p:nvSpPr>
          <p:cNvPr id="10" name="Rectangle 9"/>
          <p:cNvSpPr/>
          <p:nvPr/>
        </p:nvSpPr>
        <p:spPr>
          <a:xfrm>
            <a:off x="548640" y="1691640"/>
            <a:ext cx="1783080" cy="1417320"/>
          </a:xfrm>
          <a:prstGeom prst="rect">
            <a:avLst/>
          </a:prstGeom>
          <a:solidFill>
            <a:srgbClr val="F5F7FA"/>
          </a:solidFill>
          <a:ln w="9525">
            <a:solidFill>
              <a:srgbClr val="D0D7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691640"/>
            <a:ext cx="1783080" cy="292608"/>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1719072"/>
            <a:ext cx="548640" cy="256032"/>
          </a:xfrm>
          <a:prstGeom prst="rect">
            <a:avLst/>
          </a:prstGeom>
          <a:noFill/>
        </p:spPr>
        <p:txBody>
          <a:bodyPr wrap="square" anchor="t" lIns="73152" rIns="73152" tIns="27432" bIns="27432">
            <a:spAutoFit/>
          </a:bodyPr>
          <a:lstStyle/>
          <a:p>
            <a:pPr algn="l"/>
            <a:r>
              <a:rPr sz="1100" b="1">
                <a:solidFill>
                  <a:srgbClr val="FFFFFF"/>
                </a:solidFill>
                <a:latin typeface="Calibri"/>
              </a:rPr>
              <a:t>01</a:t>
            </a:r>
          </a:p>
        </p:txBody>
      </p:sp>
      <p:sp>
        <p:nvSpPr>
          <p:cNvPr id="13" name="TextBox 12"/>
          <p:cNvSpPr txBox="1"/>
          <p:nvPr/>
        </p:nvSpPr>
        <p:spPr>
          <a:xfrm>
            <a:off x="1097280" y="1719072"/>
            <a:ext cx="1143000" cy="256032"/>
          </a:xfrm>
          <a:prstGeom prst="rect">
            <a:avLst/>
          </a:prstGeom>
          <a:noFill/>
        </p:spPr>
        <p:txBody>
          <a:bodyPr wrap="square" anchor="t" lIns="73152" rIns="73152" tIns="27432" bIns="27432">
            <a:spAutoFit/>
          </a:bodyPr>
          <a:lstStyle/>
          <a:p>
            <a:pPr algn="l"/>
            <a:r>
              <a:rPr sz="1100" b="1">
                <a:solidFill>
                  <a:srgbClr val="FFFFFF"/>
                </a:solidFill>
                <a:latin typeface="Calibri"/>
              </a:rPr>
              <a:t>INGEST</a:t>
            </a:r>
          </a:p>
        </p:txBody>
      </p:sp>
      <p:sp>
        <p:nvSpPr>
          <p:cNvPr id="14" name="TextBox 13"/>
          <p:cNvSpPr txBox="1"/>
          <p:nvPr/>
        </p:nvSpPr>
        <p:spPr>
          <a:xfrm>
            <a:off x="713232" y="2103120"/>
            <a:ext cx="1463040" cy="914400"/>
          </a:xfrm>
          <a:prstGeom prst="rect">
            <a:avLst/>
          </a:prstGeom>
          <a:noFill/>
        </p:spPr>
        <p:txBody>
          <a:bodyPr wrap="square" anchor="t" lIns="73152" rIns="73152" tIns="27432" bIns="27432">
            <a:spAutoFit/>
          </a:bodyPr>
          <a:lstStyle/>
          <a:p>
            <a:pPr algn="l"/>
            <a:r>
              <a:rPr sz="1000" b="0">
                <a:solidFill>
                  <a:srgbClr val="1F2A37"/>
                </a:solidFill>
                <a:latin typeface="Calibri"/>
              </a:rPr>
              <a:t>Upload DOCX and template through the web interface.</a:t>
            </a:r>
          </a:p>
        </p:txBody>
      </p:sp>
      <p:sp>
        <p:nvSpPr>
          <p:cNvPr id="15" name="Right Arrow 14"/>
          <p:cNvSpPr/>
          <p:nvPr/>
        </p:nvSpPr>
        <p:spPr>
          <a:xfrm>
            <a:off x="2351720" y="2327148"/>
            <a:ext cx="69728" cy="146304"/>
          </a:xfrm>
          <a:prstGeom prst="rightArrow">
            <a:avLst/>
          </a:prstGeom>
          <a:solidFill>
            <a:srgbClr val="006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441448" y="1691640"/>
            <a:ext cx="1783080" cy="1417320"/>
          </a:xfrm>
          <a:prstGeom prst="rect">
            <a:avLst/>
          </a:prstGeom>
          <a:solidFill>
            <a:srgbClr val="F5F7FA"/>
          </a:solidFill>
          <a:ln w="9525">
            <a:solidFill>
              <a:srgbClr val="D0D7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441448" y="1691640"/>
            <a:ext cx="1783080" cy="292608"/>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78608" y="1719072"/>
            <a:ext cx="548640" cy="256032"/>
          </a:xfrm>
          <a:prstGeom prst="rect">
            <a:avLst/>
          </a:prstGeom>
          <a:noFill/>
        </p:spPr>
        <p:txBody>
          <a:bodyPr wrap="square" anchor="t" lIns="73152" rIns="73152" tIns="27432" bIns="27432">
            <a:spAutoFit/>
          </a:bodyPr>
          <a:lstStyle/>
          <a:p>
            <a:pPr algn="l"/>
            <a:r>
              <a:rPr sz="1100" b="1">
                <a:solidFill>
                  <a:srgbClr val="FFFFFF"/>
                </a:solidFill>
                <a:latin typeface="Calibri"/>
              </a:rPr>
              <a:t>02</a:t>
            </a:r>
          </a:p>
        </p:txBody>
      </p:sp>
      <p:sp>
        <p:nvSpPr>
          <p:cNvPr id="19" name="TextBox 18"/>
          <p:cNvSpPr txBox="1"/>
          <p:nvPr/>
        </p:nvSpPr>
        <p:spPr>
          <a:xfrm>
            <a:off x="2990088" y="1719072"/>
            <a:ext cx="1143000" cy="256032"/>
          </a:xfrm>
          <a:prstGeom prst="rect">
            <a:avLst/>
          </a:prstGeom>
          <a:noFill/>
        </p:spPr>
        <p:txBody>
          <a:bodyPr wrap="square" anchor="t" lIns="73152" rIns="73152" tIns="27432" bIns="27432">
            <a:spAutoFit/>
          </a:bodyPr>
          <a:lstStyle/>
          <a:p>
            <a:pPr algn="l"/>
            <a:r>
              <a:rPr sz="1100" b="1">
                <a:solidFill>
                  <a:srgbClr val="FFFFFF"/>
                </a:solidFill>
                <a:latin typeface="Calibri"/>
              </a:rPr>
              <a:t>PARSE</a:t>
            </a:r>
          </a:p>
        </p:txBody>
      </p:sp>
      <p:sp>
        <p:nvSpPr>
          <p:cNvPr id="20" name="TextBox 19"/>
          <p:cNvSpPr txBox="1"/>
          <p:nvPr/>
        </p:nvSpPr>
        <p:spPr>
          <a:xfrm>
            <a:off x="2606040" y="2103120"/>
            <a:ext cx="1463040" cy="914400"/>
          </a:xfrm>
          <a:prstGeom prst="rect">
            <a:avLst/>
          </a:prstGeom>
          <a:noFill/>
        </p:spPr>
        <p:txBody>
          <a:bodyPr wrap="square" anchor="t" lIns="73152" rIns="73152" tIns="27432" bIns="27432">
            <a:spAutoFit/>
          </a:bodyPr>
          <a:lstStyle/>
          <a:p>
            <a:pPr algn="l"/>
            <a:r>
              <a:rPr sz="1000" b="0">
                <a:solidFill>
                  <a:srgbClr val="1F2A37"/>
                </a:solidFill>
                <a:latin typeface="Calibri"/>
              </a:rPr>
              <a:t>Extract structure, headings and content via doc_loader.</a:t>
            </a:r>
          </a:p>
        </p:txBody>
      </p:sp>
      <p:sp>
        <p:nvSpPr>
          <p:cNvPr id="21" name="Right Arrow 20"/>
          <p:cNvSpPr/>
          <p:nvPr/>
        </p:nvSpPr>
        <p:spPr>
          <a:xfrm>
            <a:off x="4244528" y="2327148"/>
            <a:ext cx="69728" cy="146304"/>
          </a:xfrm>
          <a:prstGeom prst="rightArrow">
            <a:avLst/>
          </a:prstGeom>
          <a:solidFill>
            <a:srgbClr val="006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34256" y="1691640"/>
            <a:ext cx="1783080" cy="1417320"/>
          </a:xfrm>
          <a:prstGeom prst="rect">
            <a:avLst/>
          </a:prstGeom>
          <a:solidFill>
            <a:srgbClr val="F5F7FA"/>
          </a:solidFill>
          <a:ln w="9525">
            <a:solidFill>
              <a:srgbClr val="D0D7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34256" y="1691640"/>
            <a:ext cx="1783080" cy="292608"/>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471416" y="1719072"/>
            <a:ext cx="548640" cy="256032"/>
          </a:xfrm>
          <a:prstGeom prst="rect">
            <a:avLst/>
          </a:prstGeom>
          <a:noFill/>
        </p:spPr>
        <p:txBody>
          <a:bodyPr wrap="square" anchor="t" lIns="73152" rIns="73152" tIns="27432" bIns="27432">
            <a:spAutoFit/>
          </a:bodyPr>
          <a:lstStyle/>
          <a:p>
            <a:pPr algn="l"/>
            <a:r>
              <a:rPr sz="1100" b="1">
                <a:solidFill>
                  <a:srgbClr val="FFFFFF"/>
                </a:solidFill>
                <a:latin typeface="Calibri"/>
              </a:rPr>
              <a:t>03</a:t>
            </a:r>
          </a:p>
        </p:txBody>
      </p:sp>
      <p:sp>
        <p:nvSpPr>
          <p:cNvPr id="25" name="TextBox 24"/>
          <p:cNvSpPr txBox="1"/>
          <p:nvPr/>
        </p:nvSpPr>
        <p:spPr>
          <a:xfrm>
            <a:off x="4882896" y="1719072"/>
            <a:ext cx="1143000" cy="256032"/>
          </a:xfrm>
          <a:prstGeom prst="rect">
            <a:avLst/>
          </a:prstGeom>
          <a:noFill/>
        </p:spPr>
        <p:txBody>
          <a:bodyPr wrap="square" anchor="t" lIns="73152" rIns="73152" tIns="27432" bIns="27432">
            <a:spAutoFit/>
          </a:bodyPr>
          <a:lstStyle/>
          <a:p>
            <a:pPr algn="l"/>
            <a:r>
              <a:rPr sz="1100" b="1">
                <a:solidFill>
                  <a:srgbClr val="FFFFFF"/>
                </a:solidFill>
                <a:latin typeface="Calibri"/>
              </a:rPr>
              <a:t>ANALYSE</a:t>
            </a:r>
          </a:p>
        </p:txBody>
      </p:sp>
      <p:sp>
        <p:nvSpPr>
          <p:cNvPr id="26" name="TextBox 25"/>
          <p:cNvSpPr txBox="1"/>
          <p:nvPr/>
        </p:nvSpPr>
        <p:spPr>
          <a:xfrm>
            <a:off x="4498848" y="2103120"/>
            <a:ext cx="1463040" cy="914400"/>
          </a:xfrm>
          <a:prstGeom prst="rect">
            <a:avLst/>
          </a:prstGeom>
          <a:noFill/>
        </p:spPr>
        <p:txBody>
          <a:bodyPr wrap="square" anchor="t" lIns="73152" rIns="73152" tIns="27432" bIns="27432">
            <a:spAutoFit/>
          </a:bodyPr>
          <a:lstStyle/>
          <a:p>
            <a:pPr algn="l"/>
            <a:r>
              <a:rPr sz="1000" b="0">
                <a:solidFill>
                  <a:srgbClr val="1F2A37"/>
                </a:solidFill>
                <a:latin typeface="Calibri"/>
              </a:rPr>
              <a:t>Run 21 checks (10 rule-based, 11 GPT-4) in parallel.</a:t>
            </a:r>
          </a:p>
        </p:txBody>
      </p:sp>
      <p:sp>
        <p:nvSpPr>
          <p:cNvPr id="27" name="Right Arrow 26"/>
          <p:cNvSpPr/>
          <p:nvPr/>
        </p:nvSpPr>
        <p:spPr>
          <a:xfrm>
            <a:off x="6137336" y="2327148"/>
            <a:ext cx="69728" cy="146304"/>
          </a:xfrm>
          <a:prstGeom prst="rightArrow">
            <a:avLst/>
          </a:prstGeom>
          <a:solidFill>
            <a:srgbClr val="006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27064" y="1691640"/>
            <a:ext cx="1783080" cy="1417320"/>
          </a:xfrm>
          <a:prstGeom prst="rect">
            <a:avLst/>
          </a:prstGeom>
          <a:solidFill>
            <a:srgbClr val="F5F7FA"/>
          </a:solidFill>
          <a:ln w="9525">
            <a:solidFill>
              <a:srgbClr val="D0D7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27064" y="1691640"/>
            <a:ext cx="1783080" cy="292608"/>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364224" y="1719072"/>
            <a:ext cx="548640" cy="256032"/>
          </a:xfrm>
          <a:prstGeom prst="rect">
            <a:avLst/>
          </a:prstGeom>
          <a:noFill/>
        </p:spPr>
        <p:txBody>
          <a:bodyPr wrap="square" anchor="t" lIns="73152" rIns="73152" tIns="27432" bIns="27432">
            <a:spAutoFit/>
          </a:bodyPr>
          <a:lstStyle/>
          <a:p>
            <a:pPr algn="l"/>
            <a:r>
              <a:rPr sz="1100" b="1">
                <a:solidFill>
                  <a:srgbClr val="FFFFFF"/>
                </a:solidFill>
                <a:latin typeface="Calibri"/>
              </a:rPr>
              <a:t>04</a:t>
            </a:r>
          </a:p>
        </p:txBody>
      </p:sp>
      <p:sp>
        <p:nvSpPr>
          <p:cNvPr id="31" name="TextBox 30"/>
          <p:cNvSpPr txBox="1"/>
          <p:nvPr/>
        </p:nvSpPr>
        <p:spPr>
          <a:xfrm>
            <a:off x="6775704" y="1719072"/>
            <a:ext cx="1143000" cy="256032"/>
          </a:xfrm>
          <a:prstGeom prst="rect">
            <a:avLst/>
          </a:prstGeom>
          <a:noFill/>
        </p:spPr>
        <p:txBody>
          <a:bodyPr wrap="square" anchor="t" lIns="73152" rIns="73152" tIns="27432" bIns="27432">
            <a:spAutoFit/>
          </a:bodyPr>
          <a:lstStyle/>
          <a:p>
            <a:pPr algn="l"/>
            <a:r>
              <a:rPr sz="1100" b="1">
                <a:solidFill>
                  <a:srgbClr val="FFFFFF"/>
                </a:solidFill>
                <a:latin typeface="Calibri"/>
              </a:rPr>
              <a:t>DRAFT</a:t>
            </a:r>
          </a:p>
        </p:txBody>
      </p:sp>
      <p:sp>
        <p:nvSpPr>
          <p:cNvPr id="32" name="TextBox 31"/>
          <p:cNvSpPr txBox="1"/>
          <p:nvPr/>
        </p:nvSpPr>
        <p:spPr>
          <a:xfrm>
            <a:off x="6391656" y="2103120"/>
            <a:ext cx="1463040" cy="914400"/>
          </a:xfrm>
          <a:prstGeom prst="rect">
            <a:avLst/>
          </a:prstGeom>
          <a:noFill/>
        </p:spPr>
        <p:txBody>
          <a:bodyPr wrap="square" anchor="t" lIns="73152" rIns="73152" tIns="27432" bIns="27432">
            <a:spAutoFit/>
          </a:bodyPr>
          <a:lstStyle/>
          <a:p>
            <a:pPr algn="l"/>
            <a:r>
              <a:rPr sz="1000" b="0">
                <a:solidFill>
                  <a:srgbClr val="1F2A37"/>
                </a:solidFill>
                <a:latin typeface="Calibri"/>
              </a:rPr>
              <a:t>Anchor findings to the nearest heading as draft comments.</a:t>
            </a:r>
          </a:p>
        </p:txBody>
      </p:sp>
      <p:sp>
        <p:nvSpPr>
          <p:cNvPr id="33" name="Right Arrow 32"/>
          <p:cNvSpPr/>
          <p:nvPr/>
        </p:nvSpPr>
        <p:spPr>
          <a:xfrm>
            <a:off x="8030144" y="2327148"/>
            <a:ext cx="69728" cy="146304"/>
          </a:xfrm>
          <a:prstGeom prst="rightArrow">
            <a:avLst/>
          </a:prstGeom>
          <a:solidFill>
            <a:srgbClr val="006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19872" y="1691640"/>
            <a:ext cx="1783080" cy="1417320"/>
          </a:xfrm>
          <a:prstGeom prst="rect">
            <a:avLst/>
          </a:prstGeom>
          <a:solidFill>
            <a:srgbClr val="F5F7FA"/>
          </a:solidFill>
          <a:ln w="9525">
            <a:solidFill>
              <a:srgbClr val="D0D7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119872" y="1691640"/>
            <a:ext cx="1783080" cy="292608"/>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257032" y="1719072"/>
            <a:ext cx="548640" cy="256032"/>
          </a:xfrm>
          <a:prstGeom prst="rect">
            <a:avLst/>
          </a:prstGeom>
          <a:noFill/>
        </p:spPr>
        <p:txBody>
          <a:bodyPr wrap="square" anchor="t" lIns="73152" rIns="73152" tIns="27432" bIns="27432">
            <a:spAutoFit/>
          </a:bodyPr>
          <a:lstStyle/>
          <a:p>
            <a:pPr algn="l"/>
            <a:r>
              <a:rPr sz="1100" b="1">
                <a:solidFill>
                  <a:srgbClr val="FFFFFF"/>
                </a:solidFill>
                <a:latin typeface="Calibri"/>
              </a:rPr>
              <a:t>05</a:t>
            </a:r>
          </a:p>
        </p:txBody>
      </p:sp>
      <p:sp>
        <p:nvSpPr>
          <p:cNvPr id="37" name="TextBox 36"/>
          <p:cNvSpPr txBox="1"/>
          <p:nvPr/>
        </p:nvSpPr>
        <p:spPr>
          <a:xfrm>
            <a:off x="8668512" y="1719072"/>
            <a:ext cx="1143000" cy="256032"/>
          </a:xfrm>
          <a:prstGeom prst="rect">
            <a:avLst/>
          </a:prstGeom>
          <a:noFill/>
        </p:spPr>
        <p:txBody>
          <a:bodyPr wrap="square" anchor="t" lIns="73152" rIns="73152" tIns="27432" bIns="27432">
            <a:spAutoFit/>
          </a:bodyPr>
          <a:lstStyle/>
          <a:p>
            <a:pPr algn="l"/>
            <a:r>
              <a:rPr sz="1100" b="1">
                <a:solidFill>
                  <a:srgbClr val="FFFFFF"/>
                </a:solidFill>
                <a:latin typeface="Calibri"/>
              </a:rPr>
              <a:t>REVIEW</a:t>
            </a:r>
          </a:p>
        </p:txBody>
      </p:sp>
      <p:sp>
        <p:nvSpPr>
          <p:cNvPr id="38" name="TextBox 37"/>
          <p:cNvSpPr txBox="1"/>
          <p:nvPr/>
        </p:nvSpPr>
        <p:spPr>
          <a:xfrm>
            <a:off x="8284464" y="2103120"/>
            <a:ext cx="1463040" cy="914400"/>
          </a:xfrm>
          <a:prstGeom prst="rect">
            <a:avLst/>
          </a:prstGeom>
          <a:noFill/>
        </p:spPr>
        <p:txBody>
          <a:bodyPr wrap="square" anchor="t" lIns="73152" rIns="73152" tIns="27432" bIns="27432">
            <a:spAutoFit/>
          </a:bodyPr>
          <a:lstStyle/>
          <a:p>
            <a:pPr algn="l"/>
            <a:r>
              <a:rPr sz="1000" b="0">
                <a:solidFill>
                  <a:srgbClr val="1F2A37"/>
                </a:solidFill>
                <a:latin typeface="Calibri"/>
              </a:rPr>
              <a:t>Reviewer approves, edits or rejects each draft comment.</a:t>
            </a:r>
          </a:p>
        </p:txBody>
      </p:sp>
      <p:sp>
        <p:nvSpPr>
          <p:cNvPr id="39" name="Right Arrow 38"/>
          <p:cNvSpPr/>
          <p:nvPr/>
        </p:nvSpPr>
        <p:spPr>
          <a:xfrm>
            <a:off x="9922952" y="2327148"/>
            <a:ext cx="69728" cy="146304"/>
          </a:xfrm>
          <a:prstGeom prst="rightArrow">
            <a:avLst/>
          </a:prstGeom>
          <a:solidFill>
            <a:srgbClr val="006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012680" y="1691640"/>
            <a:ext cx="1783080" cy="1417320"/>
          </a:xfrm>
          <a:prstGeom prst="rect">
            <a:avLst/>
          </a:prstGeom>
          <a:solidFill>
            <a:srgbClr val="F5F7FA"/>
          </a:solidFill>
          <a:ln w="9525">
            <a:solidFill>
              <a:srgbClr val="D0D7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0012680" y="1691640"/>
            <a:ext cx="1783080" cy="292608"/>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149840" y="1719072"/>
            <a:ext cx="548640" cy="256032"/>
          </a:xfrm>
          <a:prstGeom prst="rect">
            <a:avLst/>
          </a:prstGeom>
          <a:noFill/>
        </p:spPr>
        <p:txBody>
          <a:bodyPr wrap="square" anchor="t" lIns="73152" rIns="73152" tIns="27432" bIns="27432">
            <a:spAutoFit/>
          </a:bodyPr>
          <a:lstStyle/>
          <a:p>
            <a:pPr algn="l"/>
            <a:r>
              <a:rPr sz="1100" b="1">
                <a:solidFill>
                  <a:srgbClr val="FFFFFF"/>
                </a:solidFill>
                <a:latin typeface="Calibri"/>
              </a:rPr>
              <a:t>06</a:t>
            </a:r>
          </a:p>
        </p:txBody>
      </p:sp>
      <p:sp>
        <p:nvSpPr>
          <p:cNvPr id="43" name="TextBox 42"/>
          <p:cNvSpPr txBox="1"/>
          <p:nvPr/>
        </p:nvSpPr>
        <p:spPr>
          <a:xfrm>
            <a:off x="10561320" y="1719072"/>
            <a:ext cx="1143000" cy="256032"/>
          </a:xfrm>
          <a:prstGeom prst="rect">
            <a:avLst/>
          </a:prstGeom>
          <a:noFill/>
        </p:spPr>
        <p:txBody>
          <a:bodyPr wrap="square" anchor="t" lIns="73152" rIns="73152" tIns="27432" bIns="27432">
            <a:spAutoFit/>
          </a:bodyPr>
          <a:lstStyle/>
          <a:p>
            <a:pPr algn="l"/>
            <a:r>
              <a:rPr sz="1100" b="1">
                <a:solidFill>
                  <a:srgbClr val="FFFFFF"/>
                </a:solidFill>
                <a:latin typeface="Calibri"/>
              </a:rPr>
              <a:t>PUBLISH</a:t>
            </a:r>
          </a:p>
        </p:txBody>
      </p:sp>
      <p:sp>
        <p:nvSpPr>
          <p:cNvPr id="44" name="TextBox 43"/>
          <p:cNvSpPr txBox="1"/>
          <p:nvPr/>
        </p:nvSpPr>
        <p:spPr>
          <a:xfrm>
            <a:off x="10177272" y="2103120"/>
            <a:ext cx="1463040" cy="914400"/>
          </a:xfrm>
          <a:prstGeom prst="rect">
            <a:avLst/>
          </a:prstGeom>
          <a:noFill/>
        </p:spPr>
        <p:txBody>
          <a:bodyPr wrap="square" anchor="t" lIns="73152" rIns="73152" tIns="27432" bIns="27432">
            <a:spAutoFit/>
          </a:bodyPr>
          <a:lstStyle/>
          <a:p>
            <a:pPr algn="l"/>
            <a:r>
              <a:rPr sz="1000" b="0">
                <a:solidFill>
                  <a:srgbClr val="1F2A37"/>
                </a:solidFill>
                <a:latin typeface="Calibri"/>
              </a:rPr>
              <a:t>Emit reviewed DOCX with comments and a Markdown report.</a:t>
            </a:r>
          </a:p>
        </p:txBody>
      </p:sp>
      <p:sp>
        <p:nvSpPr>
          <p:cNvPr id="45" name="TextBox 44"/>
          <p:cNvSpPr txBox="1"/>
          <p:nvPr/>
        </p:nvSpPr>
        <p:spPr>
          <a:xfrm>
            <a:off x="8119872" y="3154680"/>
            <a:ext cx="1783080" cy="274320"/>
          </a:xfrm>
          <a:prstGeom prst="rect">
            <a:avLst/>
          </a:prstGeom>
          <a:noFill/>
        </p:spPr>
        <p:txBody>
          <a:bodyPr wrap="square" anchor="t" lIns="73152" rIns="73152" tIns="27432" bIns="27432">
            <a:spAutoFit/>
          </a:bodyPr>
          <a:lstStyle/>
          <a:p>
            <a:pPr algn="ctr"/>
            <a:r>
              <a:rPr sz="900" b="1">
                <a:solidFill>
                  <a:srgbClr val="006CB5"/>
                </a:solidFill>
                <a:latin typeface="Calibri"/>
              </a:rPr>
              <a:t>Mandatory human approval gate</a:t>
            </a:r>
          </a:p>
        </p:txBody>
      </p:sp>
      <p:sp>
        <p:nvSpPr>
          <p:cNvPr id="46" name="Rectangle 45"/>
          <p:cNvSpPr/>
          <p:nvPr/>
        </p:nvSpPr>
        <p:spPr>
          <a:xfrm>
            <a:off x="548640" y="3611880"/>
            <a:ext cx="320040" cy="22000"/>
          </a:xfrm>
          <a:prstGeom prst="rect">
            <a:avLst/>
          </a:prstGeom>
          <a:solidFill>
            <a:srgbClr val="006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48640" y="3657600"/>
            <a:ext cx="5486400" cy="274320"/>
          </a:xfrm>
          <a:prstGeom prst="rect">
            <a:avLst/>
          </a:prstGeom>
          <a:noFill/>
        </p:spPr>
        <p:txBody>
          <a:bodyPr wrap="square" anchor="t" lIns="73152" rIns="73152" tIns="27432" bIns="27432">
            <a:spAutoFit/>
          </a:bodyPr>
          <a:lstStyle/>
          <a:p>
            <a:pPr algn="l"/>
            <a:r>
              <a:rPr sz="1000" b="1">
                <a:solidFill>
                  <a:srgbClr val="0B2A4A"/>
                </a:solidFill>
                <a:latin typeface="Calibri"/>
              </a:rPr>
              <a:t>ARCHITECTURE &amp; TECHNOLOGY</a:t>
            </a:r>
          </a:p>
        </p:txBody>
      </p:sp>
      <p:sp>
        <p:nvSpPr>
          <p:cNvPr id="48" name="Rectangle 47"/>
          <p:cNvSpPr/>
          <p:nvPr/>
        </p:nvSpPr>
        <p:spPr>
          <a:xfrm>
            <a:off x="548640" y="3931920"/>
            <a:ext cx="5486400" cy="1417320"/>
          </a:xfrm>
          <a:prstGeom prst="rect">
            <a:avLst/>
          </a:prstGeom>
          <a:solidFill>
            <a:srgbClr val="F5F7FA"/>
          </a:solidFill>
          <a:ln w="9525">
            <a:solidFill>
              <a:srgbClr val="D0D7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31520" y="4041648"/>
            <a:ext cx="5120640" cy="292608"/>
          </a:xfrm>
          <a:prstGeom prst="rect">
            <a:avLst/>
          </a:prstGeom>
          <a:noFill/>
        </p:spPr>
        <p:txBody>
          <a:bodyPr wrap="square" anchor="t" lIns="73152" rIns="73152" tIns="27432" bIns="27432">
            <a:spAutoFit/>
          </a:bodyPr>
          <a:lstStyle/>
          <a:p>
            <a:pPr algn="l"/>
            <a:r>
              <a:rPr sz="1200" b="1">
                <a:solidFill>
                  <a:srgbClr val="0B2A4A"/>
                </a:solidFill>
                <a:latin typeface="Calibri"/>
              </a:rPr>
              <a:t>Agentic Pipeline (LangGraph)</a:t>
            </a:r>
          </a:p>
        </p:txBody>
      </p:sp>
      <p:sp>
        <p:nvSpPr>
          <p:cNvPr id="50" name="TextBox 49"/>
          <p:cNvSpPr txBox="1"/>
          <p:nvPr/>
        </p:nvSpPr>
        <p:spPr>
          <a:xfrm>
            <a:off x="731520" y="4389120"/>
            <a:ext cx="5120640" cy="237744"/>
          </a:xfrm>
          <a:prstGeom prst="rect">
            <a:avLst/>
          </a:prstGeom>
          <a:noFill/>
        </p:spPr>
        <p:txBody>
          <a:bodyPr wrap="square" anchor="t" lIns="73152" rIns="73152" tIns="27432" bIns="27432">
            <a:spAutoFit/>
          </a:bodyPr>
          <a:lstStyle/>
          <a:p>
            <a:pPr algn="l"/>
            <a:r>
              <a:rPr sz="1000" b="0">
                <a:solidFill>
                  <a:srgbClr val="1F2A37"/>
                </a:solidFill>
                <a:latin typeface="Calibri"/>
              </a:rPr>
              <a:t>•  State machine: load → analyse → draft → review → publish</a:t>
            </a:r>
          </a:p>
        </p:txBody>
      </p:sp>
      <p:sp>
        <p:nvSpPr>
          <p:cNvPr id="51" name="TextBox 50"/>
          <p:cNvSpPr txBox="1"/>
          <p:nvPr/>
        </p:nvSpPr>
        <p:spPr>
          <a:xfrm>
            <a:off x="731520" y="4608576"/>
            <a:ext cx="5120640" cy="237744"/>
          </a:xfrm>
          <a:prstGeom prst="rect">
            <a:avLst/>
          </a:prstGeom>
          <a:noFill/>
        </p:spPr>
        <p:txBody>
          <a:bodyPr wrap="square" anchor="t" lIns="73152" rIns="73152" tIns="27432" bIns="27432">
            <a:spAutoFit/>
          </a:bodyPr>
          <a:lstStyle/>
          <a:p>
            <a:pPr algn="l"/>
            <a:r>
              <a:rPr sz="1000" b="0">
                <a:solidFill>
                  <a:srgbClr val="1F2A37"/>
                </a:solidFill>
                <a:latin typeface="Calibri"/>
              </a:rPr>
              <a:t>•  Interrupt before review node; checkpointed via MemorySaver</a:t>
            </a:r>
          </a:p>
        </p:txBody>
      </p:sp>
      <p:sp>
        <p:nvSpPr>
          <p:cNvPr id="52" name="TextBox 51"/>
          <p:cNvSpPr txBox="1"/>
          <p:nvPr/>
        </p:nvSpPr>
        <p:spPr>
          <a:xfrm>
            <a:off x="731520" y="4828032"/>
            <a:ext cx="5120640" cy="237744"/>
          </a:xfrm>
          <a:prstGeom prst="rect">
            <a:avLst/>
          </a:prstGeom>
          <a:noFill/>
        </p:spPr>
        <p:txBody>
          <a:bodyPr wrap="square" anchor="t" lIns="73152" rIns="73152" tIns="27432" bIns="27432">
            <a:spAutoFit/>
          </a:bodyPr>
          <a:lstStyle/>
          <a:p>
            <a:pPr algn="l"/>
            <a:r>
              <a:rPr sz="1000" b="0">
                <a:solidFill>
                  <a:srgbClr val="1F2A37"/>
                </a:solidFill>
                <a:latin typeface="Calibri"/>
              </a:rPr>
              <a:t>•  Flask REST API exposes draft comments and resume endpoints</a:t>
            </a:r>
          </a:p>
        </p:txBody>
      </p:sp>
      <p:sp>
        <p:nvSpPr>
          <p:cNvPr id="53" name="TextBox 52"/>
          <p:cNvSpPr txBox="1"/>
          <p:nvPr/>
        </p:nvSpPr>
        <p:spPr>
          <a:xfrm>
            <a:off x="731520" y="5047488"/>
            <a:ext cx="5120640" cy="237744"/>
          </a:xfrm>
          <a:prstGeom prst="rect">
            <a:avLst/>
          </a:prstGeom>
          <a:noFill/>
        </p:spPr>
        <p:txBody>
          <a:bodyPr wrap="square" anchor="t" lIns="73152" rIns="73152" tIns="27432" bIns="27432">
            <a:spAutoFit/>
          </a:bodyPr>
          <a:lstStyle/>
          <a:p>
            <a:pPr algn="l"/>
            <a:r>
              <a:rPr sz="1000" b="0">
                <a:solidFill>
                  <a:srgbClr val="1F2A37"/>
                </a:solidFill>
                <a:latin typeface="Calibri"/>
              </a:rPr>
              <a:t>•  Production: Postgres checkpointer, Azure Blob, App Service</a:t>
            </a:r>
          </a:p>
        </p:txBody>
      </p:sp>
      <p:sp>
        <p:nvSpPr>
          <p:cNvPr id="54" name="Rectangle 53"/>
          <p:cNvSpPr/>
          <p:nvPr/>
        </p:nvSpPr>
        <p:spPr>
          <a:xfrm>
            <a:off x="6153912" y="3931920"/>
            <a:ext cx="5486400" cy="1417320"/>
          </a:xfrm>
          <a:prstGeom prst="rect">
            <a:avLst/>
          </a:prstGeom>
          <a:solidFill>
            <a:srgbClr val="F5F7FA"/>
          </a:solidFill>
          <a:ln w="9525">
            <a:solidFill>
              <a:srgbClr val="D0D7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36792" y="4041648"/>
            <a:ext cx="5120640" cy="292608"/>
          </a:xfrm>
          <a:prstGeom prst="rect">
            <a:avLst/>
          </a:prstGeom>
          <a:noFill/>
        </p:spPr>
        <p:txBody>
          <a:bodyPr wrap="square" anchor="t" lIns="73152" rIns="73152" tIns="27432" bIns="27432">
            <a:spAutoFit/>
          </a:bodyPr>
          <a:lstStyle/>
          <a:p>
            <a:pPr algn="l"/>
            <a:r>
              <a:rPr sz="1200" b="1">
                <a:solidFill>
                  <a:srgbClr val="0B2A4A"/>
                </a:solidFill>
                <a:latin typeface="Calibri"/>
              </a:rPr>
              <a:t>Technology Stack</a:t>
            </a:r>
          </a:p>
        </p:txBody>
      </p:sp>
      <p:sp>
        <p:nvSpPr>
          <p:cNvPr id="56" name="TextBox 55"/>
          <p:cNvSpPr txBox="1"/>
          <p:nvPr/>
        </p:nvSpPr>
        <p:spPr>
          <a:xfrm>
            <a:off x="6336792" y="4389120"/>
            <a:ext cx="1691640" cy="219456"/>
          </a:xfrm>
          <a:prstGeom prst="rect">
            <a:avLst/>
          </a:prstGeom>
          <a:noFill/>
        </p:spPr>
        <p:txBody>
          <a:bodyPr wrap="square" anchor="t" lIns="73152" rIns="73152" tIns="27432" bIns="27432">
            <a:spAutoFit/>
          </a:bodyPr>
          <a:lstStyle/>
          <a:p>
            <a:pPr algn="l"/>
            <a:r>
              <a:rPr sz="1000" b="1">
                <a:solidFill>
                  <a:srgbClr val="0B2A4A"/>
                </a:solidFill>
                <a:latin typeface="Calibri"/>
              </a:rPr>
              <a:t>Orchestration</a:t>
            </a:r>
          </a:p>
        </p:txBody>
      </p:sp>
      <p:sp>
        <p:nvSpPr>
          <p:cNvPr id="57" name="TextBox 56"/>
          <p:cNvSpPr txBox="1"/>
          <p:nvPr/>
        </p:nvSpPr>
        <p:spPr>
          <a:xfrm>
            <a:off x="8074152" y="4389120"/>
            <a:ext cx="3383280" cy="219456"/>
          </a:xfrm>
          <a:prstGeom prst="rect">
            <a:avLst/>
          </a:prstGeom>
          <a:noFill/>
        </p:spPr>
        <p:txBody>
          <a:bodyPr wrap="square" anchor="t" lIns="73152" rIns="73152" tIns="27432" bIns="27432">
            <a:spAutoFit/>
          </a:bodyPr>
          <a:lstStyle/>
          <a:p>
            <a:pPr algn="l"/>
            <a:r>
              <a:rPr sz="1000" b="0">
                <a:solidFill>
                  <a:srgbClr val="1F2A37"/>
                </a:solidFill>
                <a:latin typeface="Calibri"/>
              </a:rPr>
              <a:t>LangGraph state machine with checkpointer</a:t>
            </a:r>
          </a:p>
        </p:txBody>
      </p:sp>
      <p:sp>
        <p:nvSpPr>
          <p:cNvPr id="58" name="TextBox 57"/>
          <p:cNvSpPr txBox="1"/>
          <p:nvPr/>
        </p:nvSpPr>
        <p:spPr>
          <a:xfrm>
            <a:off x="6336792" y="4590288"/>
            <a:ext cx="1691640" cy="219456"/>
          </a:xfrm>
          <a:prstGeom prst="rect">
            <a:avLst/>
          </a:prstGeom>
          <a:noFill/>
        </p:spPr>
        <p:txBody>
          <a:bodyPr wrap="square" anchor="t" lIns="73152" rIns="73152" tIns="27432" bIns="27432">
            <a:spAutoFit/>
          </a:bodyPr>
          <a:lstStyle/>
          <a:p>
            <a:pPr algn="l"/>
            <a:r>
              <a:rPr sz="1000" b="1">
                <a:solidFill>
                  <a:srgbClr val="0B2A4A"/>
                </a:solidFill>
                <a:latin typeface="Calibri"/>
              </a:rPr>
              <a:t>Language model</a:t>
            </a:r>
          </a:p>
        </p:txBody>
      </p:sp>
      <p:sp>
        <p:nvSpPr>
          <p:cNvPr id="59" name="TextBox 58"/>
          <p:cNvSpPr txBox="1"/>
          <p:nvPr/>
        </p:nvSpPr>
        <p:spPr>
          <a:xfrm>
            <a:off x="8074152" y="4590288"/>
            <a:ext cx="3383280" cy="219456"/>
          </a:xfrm>
          <a:prstGeom prst="rect">
            <a:avLst/>
          </a:prstGeom>
          <a:noFill/>
        </p:spPr>
        <p:txBody>
          <a:bodyPr wrap="square" anchor="t" lIns="73152" rIns="73152" tIns="27432" bIns="27432">
            <a:spAutoFit/>
          </a:bodyPr>
          <a:lstStyle/>
          <a:p>
            <a:pPr algn="l"/>
            <a:r>
              <a:rPr sz="1000" b="0">
                <a:solidFill>
                  <a:srgbClr val="1F2A37"/>
                </a:solidFill>
                <a:latin typeface="Calibri"/>
              </a:rPr>
              <a:t>Azure OpenAI GPT-4 (primary + secondary)</a:t>
            </a:r>
          </a:p>
        </p:txBody>
      </p:sp>
      <p:sp>
        <p:nvSpPr>
          <p:cNvPr id="60" name="TextBox 59"/>
          <p:cNvSpPr txBox="1"/>
          <p:nvPr/>
        </p:nvSpPr>
        <p:spPr>
          <a:xfrm>
            <a:off x="6336792" y="4791456"/>
            <a:ext cx="1691640" cy="219456"/>
          </a:xfrm>
          <a:prstGeom prst="rect">
            <a:avLst/>
          </a:prstGeom>
          <a:noFill/>
        </p:spPr>
        <p:txBody>
          <a:bodyPr wrap="square" anchor="t" lIns="73152" rIns="73152" tIns="27432" bIns="27432">
            <a:spAutoFit/>
          </a:bodyPr>
          <a:lstStyle/>
          <a:p>
            <a:pPr algn="l"/>
            <a:r>
              <a:rPr sz="1000" b="1">
                <a:solidFill>
                  <a:srgbClr val="0B2A4A"/>
                </a:solidFill>
                <a:latin typeface="Calibri"/>
              </a:rPr>
              <a:t>Backend</a:t>
            </a:r>
          </a:p>
        </p:txBody>
      </p:sp>
      <p:sp>
        <p:nvSpPr>
          <p:cNvPr id="61" name="TextBox 60"/>
          <p:cNvSpPr txBox="1"/>
          <p:nvPr/>
        </p:nvSpPr>
        <p:spPr>
          <a:xfrm>
            <a:off x="8074152" y="4791456"/>
            <a:ext cx="3383280" cy="219456"/>
          </a:xfrm>
          <a:prstGeom prst="rect">
            <a:avLst/>
          </a:prstGeom>
          <a:noFill/>
        </p:spPr>
        <p:txBody>
          <a:bodyPr wrap="square" anchor="t" lIns="73152" rIns="73152" tIns="27432" bIns="27432">
            <a:spAutoFit/>
          </a:bodyPr>
          <a:lstStyle/>
          <a:p>
            <a:pPr algn="l"/>
            <a:r>
              <a:rPr sz="1000" b="0">
                <a:solidFill>
                  <a:srgbClr val="1F2A37"/>
                </a:solidFill>
                <a:latin typeface="Calibri"/>
              </a:rPr>
              <a:t>Python 3.x, Flask REST, python-docx</a:t>
            </a:r>
          </a:p>
        </p:txBody>
      </p:sp>
      <p:sp>
        <p:nvSpPr>
          <p:cNvPr id="62" name="TextBox 61"/>
          <p:cNvSpPr txBox="1"/>
          <p:nvPr/>
        </p:nvSpPr>
        <p:spPr>
          <a:xfrm>
            <a:off x="6336792" y="4992624"/>
            <a:ext cx="1691640" cy="219456"/>
          </a:xfrm>
          <a:prstGeom prst="rect">
            <a:avLst/>
          </a:prstGeom>
          <a:noFill/>
        </p:spPr>
        <p:txBody>
          <a:bodyPr wrap="square" anchor="t" lIns="73152" rIns="73152" tIns="27432" bIns="27432">
            <a:spAutoFit/>
          </a:bodyPr>
          <a:lstStyle/>
          <a:p>
            <a:pPr algn="l"/>
            <a:r>
              <a:rPr sz="1000" b="1">
                <a:solidFill>
                  <a:srgbClr val="0B2A4A"/>
                </a:solidFill>
                <a:latin typeface="Calibri"/>
              </a:rPr>
              <a:t>Frontend</a:t>
            </a:r>
          </a:p>
        </p:txBody>
      </p:sp>
      <p:sp>
        <p:nvSpPr>
          <p:cNvPr id="63" name="TextBox 62"/>
          <p:cNvSpPr txBox="1"/>
          <p:nvPr/>
        </p:nvSpPr>
        <p:spPr>
          <a:xfrm>
            <a:off x="8074152" y="4992624"/>
            <a:ext cx="3383280" cy="219456"/>
          </a:xfrm>
          <a:prstGeom prst="rect">
            <a:avLst/>
          </a:prstGeom>
          <a:noFill/>
        </p:spPr>
        <p:txBody>
          <a:bodyPr wrap="square" anchor="t" lIns="73152" rIns="73152" tIns="27432" bIns="27432">
            <a:spAutoFit/>
          </a:bodyPr>
          <a:lstStyle/>
          <a:p>
            <a:pPr algn="l"/>
            <a:r>
              <a:rPr sz="1000" b="0">
                <a:solidFill>
                  <a:srgbClr val="1F2A37"/>
                </a:solidFill>
                <a:latin typeface="Calibri"/>
              </a:rPr>
              <a:t>HTML, CSS, Vanilla JavaScript (ES6+)</a:t>
            </a:r>
          </a:p>
        </p:txBody>
      </p:sp>
      <p:sp>
        <p:nvSpPr>
          <p:cNvPr id="64" name="TextBox 63"/>
          <p:cNvSpPr txBox="1"/>
          <p:nvPr/>
        </p:nvSpPr>
        <p:spPr>
          <a:xfrm>
            <a:off x="6336792" y="5193792"/>
            <a:ext cx="1691640" cy="219456"/>
          </a:xfrm>
          <a:prstGeom prst="rect">
            <a:avLst/>
          </a:prstGeom>
          <a:noFill/>
        </p:spPr>
        <p:txBody>
          <a:bodyPr wrap="square" anchor="t" lIns="73152" rIns="73152" tIns="27432" bIns="27432">
            <a:spAutoFit/>
          </a:bodyPr>
          <a:lstStyle/>
          <a:p>
            <a:pPr algn="l"/>
            <a:r>
              <a:rPr sz="1000" b="1">
                <a:solidFill>
                  <a:srgbClr val="0B2A4A"/>
                </a:solidFill>
                <a:latin typeface="Calibri"/>
              </a:rPr>
              <a:t>Hosting &amp; security</a:t>
            </a:r>
          </a:p>
        </p:txBody>
      </p:sp>
      <p:sp>
        <p:nvSpPr>
          <p:cNvPr id="65" name="TextBox 64"/>
          <p:cNvSpPr txBox="1"/>
          <p:nvPr/>
        </p:nvSpPr>
        <p:spPr>
          <a:xfrm>
            <a:off x="8074152" y="5193792"/>
            <a:ext cx="3383280" cy="219456"/>
          </a:xfrm>
          <a:prstGeom prst="rect">
            <a:avLst/>
          </a:prstGeom>
          <a:noFill/>
        </p:spPr>
        <p:txBody>
          <a:bodyPr wrap="square" anchor="t" lIns="73152" rIns="73152" tIns="27432" bIns="27432">
            <a:spAutoFit/>
          </a:bodyPr>
          <a:lstStyle/>
          <a:p>
            <a:pPr algn="l"/>
            <a:r>
              <a:rPr sz="1000" b="0">
                <a:solidFill>
                  <a:srgbClr val="1F2A37"/>
                </a:solidFill>
                <a:latin typeface="Calibri"/>
              </a:rPr>
              <a:t>Azure App Service, Key Vault, Managed Identity</a:t>
            </a:r>
          </a:p>
        </p:txBody>
      </p:sp>
      <p:sp>
        <p:nvSpPr>
          <p:cNvPr id="66" name="Rectangle 65"/>
          <p:cNvSpPr/>
          <p:nvPr/>
        </p:nvSpPr>
        <p:spPr>
          <a:xfrm>
            <a:off x="548640" y="5486400"/>
            <a:ext cx="320040" cy="22000"/>
          </a:xfrm>
          <a:prstGeom prst="rect">
            <a:avLst/>
          </a:prstGeom>
          <a:solidFill>
            <a:srgbClr val="006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48640" y="5532120"/>
            <a:ext cx="5486400" cy="274320"/>
          </a:xfrm>
          <a:prstGeom prst="rect">
            <a:avLst/>
          </a:prstGeom>
          <a:noFill/>
        </p:spPr>
        <p:txBody>
          <a:bodyPr wrap="square" anchor="t" lIns="73152" rIns="73152" tIns="27432" bIns="27432">
            <a:spAutoFit/>
          </a:bodyPr>
          <a:lstStyle/>
          <a:p>
            <a:pPr algn="l"/>
            <a:r>
              <a:rPr sz="1000" b="1">
                <a:solidFill>
                  <a:srgbClr val="0B2A4A"/>
                </a:solidFill>
                <a:latin typeface="Calibri"/>
              </a:rPr>
              <a:t>BUSINESS BENEFITS</a:t>
            </a:r>
          </a:p>
        </p:txBody>
      </p:sp>
      <p:sp>
        <p:nvSpPr>
          <p:cNvPr id="68" name="Rectangle 67"/>
          <p:cNvSpPr/>
          <p:nvPr/>
        </p:nvSpPr>
        <p:spPr>
          <a:xfrm>
            <a:off x="548640" y="5806440"/>
            <a:ext cx="2743200" cy="640080"/>
          </a:xfrm>
          <a:prstGeom prst="rect">
            <a:avLst/>
          </a:prstGeom>
          <a:solidFill>
            <a:srgbClr val="F5F7FA"/>
          </a:solidFill>
          <a:ln w="9525">
            <a:solidFill>
              <a:srgbClr val="D0D7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48640" y="5806440"/>
            <a:ext cx="54864" cy="640080"/>
          </a:xfrm>
          <a:prstGeom prst="rect">
            <a:avLst/>
          </a:prstGeom>
          <a:solidFill>
            <a:srgbClr val="006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13232" y="5861304"/>
            <a:ext cx="2514600" cy="274320"/>
          </a:xfrm>
          <a:prstGeom prst="rect">
            <a:avLst/>
          </a:prstGeom>
          <a:noFill/>
        </p:spPr>
        <p:txBody>
          <a:bodyPr wrap="square" anchor="t" lIns="73152" rIns="73152" tIns="27432" bIns="27432">
            <a:spAutoFit/>
          </a:bodyPr>
          <a:lstStyle/>
          <a:p>
            <a:pPr algn="l"/>
            <a:r>
              <a:rPr sz="1100" b="1">
                <a:solidFill>
                  <a:srgbClr val="0B2A4A"/>
                </a:solidFill>
                <a:latin typeface="Calibri"/>
              </a:rPr>
              <a:t>Faster review cycles</a:t>
            </a:r>
          </a:p>
        </p:txBody>
      </p:sp>
      <p:sp>
        <p:nvSpPr>
          <p:cNvPr id="71" name="TextBox 70"/>
          <p:cNvSpPr txBox="1"/>
          <p:nvPr/>
        </p:nvSpPr>
        <p:spPr>
          <a:xfrm>
            <a:off x="713232" y="6099048"/>
            <a:ext cx="2514600" cy="329184"/>
          </a:xfrm>
          <a:prstGeom prst="rect">
            <a:avLst/>
          </a:prstGeom>
          <a:noFill/>
        </p:spPr>
        <p:txBody>
          <a:bodyPr wrap="square" anchor="t" lIns="73152" rIns="73152" tIns="27432" bIns="27432">
            <a:spAutoFit/>
          </a:bodyPr>
          <a:lstStyle/>
          <a:p>
            <a:pPr algn="l"/>
            <a:r>
              <a:rPr sz="900" b="0">
                <a:solidFill>
                  <a:srgbClr val="5B6B80"/>
                </a:solidFill>
                <a:latin typeface="Calibri"/>
              </a:rPr>
              <a:t>Reduces expert review from hours to minutes per document.</a:t>
            </a:r>
          </a:p>
        </p:txBody>
      </p:sp>
      <p:sp>
        <p:nvSpPr>
          <p:cNvPr id="72" name="Rectangle 71"/>
          <p:cNvSpPr/>
          <p:nvPr/>
        </p:nvSpPr>
        <p:spPr>
          <a:xfrm>
            <a:off x="3355848" y="5806440"/>
            <a:ext cx="2743200" cy="640080"/>
          </a:xfrm>
          <a:prstGeom prst="rect">
            <a:avLst/>
          </a:prstGeom>
          <a:solidFill>
            <a:srgbClr val="F5F7FA"/>
          </a:solidFill>
          <a:ln w="9525">
            <a:solidFill>
              <a:srgbClr val="D0D7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Rectangle 72"/>
          <p:cNvSpPr/>
          <p:nvPr/>
        </p:nvSpPr>
        <p:spPr>
          <a:xfrm>
            <a:off x="3355848" y="5806440"/>
            <a:ext cx="54864" cy="640080"/>
          </a:xfrm>
          <a:prstGeom prst="rect">
            <a:avLst/>
          </a:prstGeom>
          <a:solidFill>
            <a:srgbClr val="006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520440" y="5861304"/>
            <a:ext cx="2514600" cy="274320"/>
          </a:xfrm>
          <a:prstGeom prst="rect">
            <a:avLst/>
          </a:prstGeom>
          <a:noFill/>
        </p:spPr>
        <p:txBody>
          <a:bodyPr wrap="square" anchor="t" lIns="73152" rIns="73152" tIns="27432" bIns="27432">
            <a:spAutoFit/>
          </a:bodyPr>
          <a:lstStyle/>
          <a:p>
            <a:pPr algn="l"/>
            <a:r>
              <a:rPr sz="1100" b="1">
                <a:solidFill>
                  <a:srgbClr val="0B2A4A"/>
                </a:solidFill>
                <a:latin typeface="Calibri"/>
              </a:rPr>
              <a:t>Compliance assurance</a:t>
            </a:r>
          </a:p>
        </p:txBody>
      </p:sp>
      <p:sp>
        <p:nvSpPr>
          <p:cNvPr id="75" name="TextBox 74"/>
          <p:cNvSpPr txBox="1"/>
          <p:nvPr/>
        </p:nvSpPr>
        <p:spPr>
          <a:xfrm>
            <a:off x="3520440" y="6099048"/>
            <a:ext cx="2514600" cy="329184"/>
          </a:xfrm>
          <a:prstGeom prst="rect">
            <a:avLst/>
          </a:prstGeom>
          <a:noFill/>
        </p:spPr>
        <p:txBody>
          <a:bodyPr wrap="square" anchor="t" lIns="73152" rIns="73152" tIns="27432" bIns="27432">
            <a:spAutoFit/>
          </a:bodyPr>
          <a:lstStyle/>
          <a:p>
            <a:pPr algn="l"/>
            <a:r>
              <a:rPr sz="900" b="0">
                <a:solidFill>
                  <a:srgbClr val="5B6B80"/>
                </a:solidFill>
                <a:latin typeface="Calibri"/>
              </a:rPr>
              <a:t>No AI-authored content is published without explicit reviewer approval.</a:t>
            </a:r>
          </a:p>
        </p:txBody>
      </p:sp>
      <p:sp>
        <p:nvSpPr>
          <p:cNvPr id="76" name="Rectangle 75"/>
          <p:cNvSpPr/>
          <p:nvPr/>
        </p:nvSpPr>
        <p:spPr>
          <a:xfrm>
            <a:off x="6163056" y="5806440"/>
            <a:ext cx="2743200" cy="640080"/>
          </a:xfrm>
          <a:prstGeom prst="rect">
            <a:avLst/>
          </a:prstGeom>
          <a:solidFill>
            <a:srgbClr val="F5F7FA"/>
          </a:solidFill>
          <a:ln w="9525">
            <a:solidFill>
              <a:srgbClr val="D0D7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6163056" y="5806440"/>
            <a:ext cx="54864" cy="640080"/>
          </a:xfrm>
          <a:prstGeom prst="rect">
            <a:avLst/>
          </a:prstGeom>
          <a:solidFill>
            <a:srgbClr val="006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327648" y="5861304"/>
            <a:ext cx="2514600" cy="274320"/>
          </a:xfrm>
          <a:prstGeom prst="rect">
            <a:avLst/>
          </a:prstGeom>
          <a:noFill/>
        </p:spPr>
        <p:txBody>
          <a:bodyPr wrap="square" anchor="t" lIns="73152" rIns="73152" tIns="27432" bIns="27432">
            <a:spAutoFit/>
          </a:bodyPr>
          <a:lstStyle/>
          <a:p>
            <a:pPr algn="l"/>
            <a:r>
              <a:rPr sz="1100" b="1">
                <a:solidFill>
                  <a:srgbClr val="0B2A4A"/>
                </a:solidFill>
                <a:latin typeface="Calibri"/>
              </a:rPr>
              <a:t>Consistent quality</a:t>
            </a:r>
          </a:p>
        </p:txBody>
      </p:sp>
      <p:sp>
        <p:nvSpPr>
          <p:cNvPr id="79" name="TextBox 78"/>
          <p:cNvSpPr txBox="1"/>
          <p:nvPr/>
        </p:nvSpPr>
        <p:spPr>
          <a:xfrm>
            <a:off x="6327648" y="6099048"/>
            <a:ext cx="2514600" cy="329184"/>
          </a:xfrm>
          <a:prstGeom prst="rect">
            <a:avLst/>
          </a:prstGeom>
          <a:noFill/>
        </p:spPr>
        <p:txBody>
          <a:bodyPr wrap="square" anchor="t" lIns="73152" rIns="73152" tIns="27432" bIns="27432">
            <a:spAutoFit/>
          </a:bodyPr>
          <a:lstStyle/>
          <a:p>
            <a:pPr algn="l"/>
            <a:r>
              <a:rPr sz="900" b="0">
                <a:solidFill>
                  <a:srgbClr val="5B6B80"/>
                </a:solidFill>
                <a:latin typeface="Calibri"/>
              </a:rPr>
              <a:t>The same 21 checks are applied identically to every document.</a:t>
            </a:r>
          </a:p>
        </p:txBody>
      </p:sp>
      <p:sp>
        <p:nvSpPr>
          <p:cNvPr id="80" name="Rectangle 79"/>
          <p:cNvSpPr/>
          <p:nvPr/>
        </p:nvSpPr>
        <p:spPr>
          <a:xfrm>
            <a:off x="8970264" y="5806440"/>
            <a:ext cx="2743200" cy="640080"/>
          </a:xfrm>
          <a:prstGeom prst="rect">
            <a:avLst/>
          </a:prstGeom>
          <a:solidFill>
            <a:srgbClr val="F5F7FA"/>
          </a:solidFill>
          <a:ln w="9525">
            <a:solidFill>
              <a:srgbClr val="D0D7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8970264" y="5806440"/>
            <a:ext cx="54864" cy="640080"/>
          </a:xfrm>
          <a:prstGeom prst="rect">
            <a:avLst/>
          </a:prstGeom>
          <a:solidFill>
            <a:srgbClr val="006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9134856" y="5861304"/>
            <a:ext cx="2514600" cy="274320"/>
          </a:xfrm>
          <a:prstGeom prst="rect">
            <a:avLst/>
          </a:prstGeom>
          <a:noFill/>
        </p:spPr>
        <p:txBody>
          <a:bodyPr wrap="square" anchor="t" lIns="73152" rIns="73152" tIns="27432" bIns="27432">
            <a:spAutoFit/>
          </a:bodyPr>
          <a:lstStyle/>
          <a:p>
            <a:pPr algn="l"/>
            <a:r>
              <a:rPr sz="1100" b="1">
                <a:solidFill>
                  <a:srgbClr val="0B2A4A"/>
                </a:solidFill>
                <a:latin typeface="Calibri"/>
              </a:rPr>
              <a:t>Auditability</a:t>
            </a:r>
          </a:p>
        </p:txBody>
      </p:sp>
      <p:sp>
        <p:nvSpPr>
          <p:cNvPr id="83" name="TextBox 82"/>
          <p:cNvSpPr txBox="1"/>
          <p:nvPr/>
        </p:nvSpPr>
        <p:spPr>
          <a:xfrm>
            <a:off x="9134856" y="6099048"/>
            <a:ext cx="2514600" cy="329184"/>
          </a:xfrm>
          <a:prstGeom prst="rect">
            <a:avLst/>
          </a:prstGeom>
          <a:noFill/>
        </p:spPr>
        <p:txBody>
          <a:bodyPr wrap="square" anchor="t" lIns="73152" rIns="73152" tIns="27432" bIns="27432">
            <a:spAutoFit/>
          </a:bodyPr>
          <a:lstStyle/>
          <a:p>
            <a:pPr algn="l"/>
            <a:r>
              <a:rPr sz="900" b="0">
                <a:solidFill>
                  <a:srgbClr val="5B6B80"/>
                </a:solidFill>
                <a:latin typeface="Calibri"/>
              </a:rPr>
              <a:t>Every session is checkpointed and produces a structured report.</a:t>
            </a:r>
          </a:p>
        </p:txBody>
      </p:sp>
      <p:sp>
        <p:nvSpPr>
          <p:cNvPr id="84" name="Rectangle 83"/>
          <p:cNvSpPr/>
          <p:nvPr/>
        </p:nvSpPr>
        <p:spPr>
          <a:xfrm>
            <a:off x="548640" y="6510528"/>
            <a:ext cx="11091672" cy="9525"/>
          </a:xfrm>
          <a:prstGeom prst="rect">
            <a:avLst/>
          </a:prstGeom>
          <a:solidFill>
            <a:srgbClr val="D0D7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48640" y="6565392"/>
            <a:ext cx="7315200" cy="201168"/>
          </a:xfrm>
          <a:prstGeom prst="rect">
            <a:avLst/>
          </a:prstGeom>
          <a:noFill/>
        </p:spPr>
        <p:txBody>
          <a:bodyPr wrap="square" anchor="t" lIns="73152" rIns="73152" tIns="27432" bIns="27432">
            <a:spAutoFit/>
          </a:bodyPr>
          <a:lstStyle/>
          <a:p>
            <a:pPr algn="l"/>
            <a:r>
              <a:rPr sz="900" b="0">
                <a:solidFill>
                  <a:srgbClr val="5B6B80"/>
                </a:solidFill>
                <a:latin typeface="Calibri"/>
              </a:rPr>
              <a:t>DHF / GDP Checker  |  Agentic Document Quality Assurance</a:t>
            </a:r>
          </a:p>
        </p:txBody>
      </p:sp>
      <p:sp>
        <p:nvSpPr>
          <p:cNvPr id="86" name="TextBox 85"/>
          <p:cNvSpPr txBox="1"/>
          <p:nvPr/>
        </p:nvSpPr>
        <p:spPr>
          <a:xfrm>
            <a:off x="10058400" y="6565392"/>
            <a:ext cx="1554480" cy="201168"/>
          </a:xfrm>
          <a:prstGeom prst="rect">
            <a:avLst/>
          </a:prstGeom>
          <a:noFill/>
        </p:spPr>
        <p:txBody>
          <a:bodyPr wrap="square" anchor="t" lIns="73152" rIns="73152" tIns="27432" bIns="27432">
            <a:spAutoFit/>
          </a:bodyPr>
          <a:lstStyle/>
          <a:p>
            <a:pPr algn="r"/>
            <a:r>
              <a:rPr sz="900" b="0">
                <a:solidFill>
                  <a:srgbClr val="5B6B80"/>
                </a:solidFill>
                <a:latin typeface="Calibri"/>
              </a:rPr>
              <a:t>Page 2 of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